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56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821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NSIQ INFOTECH HACKATHON CHALLENGE</a:t>
            </a:r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Wealth Compass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3F6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Investor Portfolio Monitoring &amp; Risk Management System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1" u="none" strike="noStrike" kern="1200" cap="none" spc="0" normalizeH="0" baseline="0" noProof="0" dirty="0">
                <a:ln>
                  <a:noFill/>
                </a:ln>
                <a:solidFill>
                  <a:srgbClr val="C7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unified, India-first platform that consolidates every investment — equities, mutual funds, F&amp;O, gold, EPF/PPF, FDs, REITs and crypto — into one dashboard with real performance, risk and diversification intelligence.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5349240"/>
            <a:ext cx="27432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486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AA6C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Team: Genz Analytics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AA6C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Member: Suraj Golai , enroll: 202302626010024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AA6C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Member: Alhaj Shaikh, enroll:202402626010165 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8792B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GLS University, Ahmedabad  ·  BTech Computer Science &amp; Engineering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money is scattered. Your risk is invisible.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44546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this: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money sitting in 5 different places — Zerodha, Groww, Binance, a Bank FD, and some Gold.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3337560"/>
            <a:ext cx="4572000" cy="0"/>
          </a:xfrm>
          <a:prstGeom prst="line">
            <a:avLst/>
          </a:prstGeom>
          <a:noFill/>
          <a:ln w="12700">
            <a:solidFill>
              <a:srgbClr val="D9DC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5204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day, you open 5 different apps just to answer one question: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1605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much money do I actually have?”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7548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even then, you still can't answer the scarier question: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2578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i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“Could I lose ₹5 Lakhs tomorrow if the market crashes?”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92240" y="182880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18288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Zerodha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95360" y="164592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95360" y="16459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332720" y="237744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332720" y="23774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356616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75120" y="35661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FD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69680" y="393192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869680" y="39319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8160" y="512064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38160" y="50749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48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6446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apps. 1 unanswered question.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Compass · NSIQ Infotech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IN DETAIL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real problems every Indian investor faces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wealth_compass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764792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Fragmentation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297680" y="1764792"/>
            <a:ext cx="7315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Zerodha, Groww, Binance, HDFC Bank — all separate. No single total, ever.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830068"/>
            <a:ext cx="11064240" cy="0"/>
          </a:xfrm>
          <a:prstGeom prst="line">
            <a:avLst/>
          </a:prstGeom>
          <a:noFill/>
          <a:ln w="12700">
            <a:solidFill>
              <a:srgbClr val="E3E6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99008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wealth_compass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2724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926080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Blindness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297680" y="2926080"/>
            <a:ext cx="7315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shows “Stocks ↑ 12%” but never warns “85% of your money is in risky tech stocks!”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3991356"/>
            <a:ext cx="11064240" cy="0"/>
          </a:xfrm>
          <a:prstGeom prst="line">
            <a:avLst/>
          </a:prstGeom>
          <a:noFill/>
          <a:ln w="12700">
            <a:solidFill>
              <a:srgbClr val="E3E6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415137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wealth_compass/icons/calcula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288536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4087368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 Errors in Money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297680" y="4087368"/>
            <a:ext cx="7315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do 0.1 + 0.2 = 0.30000000000000004. In banking, even 1 paisa error is unacceptable.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48640" y="5152644"/>
            <a:ext cx="11064240" cy="0"/>
          </a:xfrm>
          <a:prstGeom prst="line">
            <a:avLst/>
          </a:prstGeom>
          <a:noFill/>
          <a:ln w="12700">
            <a:solidFill>
              <a:srgbClr val="E3E6E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5312664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/home/claude/wealth_compass/icons/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449824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5248656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 or No Alerts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297680" y="5248656"/>
            <a:ext cx="7315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50 useless notifications spam you, or the app stays silent while your portfolio drops 15%.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Compass · NSIQ Infotech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FEELS THIS PAIN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real investors, one shared frustration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1965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wealth_compass/icons/user_t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2121408"/>
            <a:ext cx="374904" cy="3749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788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Alex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72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HNW Investor · 42 · Mumbai CFO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22960" y="3776472"/>
            <a:ext cx="2057400" cy="0"/>
          </a:xfrm>
          <a:prstGeom prst="line">
            <a:avLst/>
          </a:prstGeom>
          <a:noFill/>
          <a:ln w="12700">
            <a:solidFill>
              <a:srgbClr val="E3E6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9044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Portfolio: </a:t>
            </a:r>
            <a:r>
              <a:rPr lang="en-US" sz="11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₹8–15 Cr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206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</a:t>
            </a: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Zerodha + HDFC FD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5800" y="475488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04672" y="4846320"/>
            <a:ext cx="209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 every Sunday reconciling 6 spreadsheets.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55848" y="169164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15968" y="1965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/home/claude/wealth_compass/icons/user_ast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2121408"/>
            <a:ext cx="374904" cy="37490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355848" y="2788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Maya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3493008" y="3172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Trader · 29 · Bengaluru Dev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630168" y="3776472"/>
            <a:ext cx="2057400" cy="0"/>
          </a:xfrm>
          <a:prstGeom prst="line">
            <a:avLst/>
          </a:prstGeom>
          <a:noFill/>
          <a:ln w="12700">
            <a:solidFill>
              <a:srgbClr val="E3E6E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538728" y="39044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Portfolio: </a:t>
            </a:r>
            <a:r>
              <a:rPr lang="en-US" sz="11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₹50L–2 Cr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3538728" y="4206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</a:t>
            </a: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+ Zerodha + ICICI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493008" y="475488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3611880" y="4846320"/>
            <a:ext cx="209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Wakes up to a BTC crash — zero alerts while she slept.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163056" y="169164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123176" y="1965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2" descr="/home/claude/wealth_compass/icons/user_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4" y="2121408"/>
            <a:ext cx="374904" cy="37490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163056" y="2788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Raj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6300216" y="3172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Investor · 58 · Retired Officer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6437376" y="3776472"/>
            <a:ext cx="2057400" cy="0"/>
          </a:xfrm>
          <a:prstGeom prst="line">
            <a:avLst/>
          </a:prstGeom>
          <a:noFill/>
          <a:ln w="12700">
            <a:solidFill>
              <a:srgbClr val="E3E6E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345936" y="39044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Portfolio: </a:t>
            </a:r>
            <a:r>
              <a:rPr lang="en-US" sz="11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₹3–6 Cr</a:t>
            </a:r>
            <a:endParaRPr lang="en-US" sz="1150" dirty="0"/>
          </a:p>
        </p:txBody>
      </p:sp>
      <p:sp>
        <p:nvSpPr>
          <p:cNvPr id="31" name="Text 26"/>
          <p:cNvSpPr txBox="1"/>
          <p:nvPr/>
        </p:nvSpPr>
        <p:spPr>
          <a:xfrm>
            <a:off x="6345936" y="4206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</a:t>
            </a: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Office + SBI FD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300216" y="475488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6419088" y="4846320"/>
            <a:ext cx="209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an FD maturity date and loses the renewal bonus.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8970264" y="169164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9930384" y="1965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3" descr="/home/claude/wealth_compass/icons/user_gr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2121408"/>
            <a:ext cx="374904" cy="374904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8970264" y="2788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9107424" y="3172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Investor · 34 · Marketing Manager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9244584" y="3776472"/>
            <a:ext cx="2057400" cy="0"/>
          </a:xfrm>
          <a:prstGeom prst="line">
            <a:avLst/>
          </a:prstGeom>
          <a:noFill/>
          <a:ln w="12700">
            <a:solidFill>
              <a:srgbClr val="E3E6EF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9153144" y="39044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Portfolio: </a:t>
            </a:r>
            <a:r>
              <a:rPr lang="en-US" sz="11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₹20–50L</a:t>
            </a:r>
            <a:endParaRPr lang="en-US" sz="1150" dirty="0"/>
          </a:p>
        </p:txBody>
      </p:sp>
      <p:sp>
        <p:nvSpPr>
          <p:cNvPr id="41" name="Text 35"/>
          <p:cNvSpPr txBox="1"/>
          <p:nvPr/>
        </p:nvSpPr>
        <p:spPr>
          <a:xfrm>
            <a:off x="9153144" y="4206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</a:t>
            </a: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Groww + Kuvera + Zerodha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9107424" y="475488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9226296" y="4846320"/>
            <a:ext cx="209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apps show 3 different XIRR numbers — which one is right?</a:t>
            </a:r>
            <a:endParaRPr lang="en-US" sz="1050" dirty="0"/>
          </a:p>
        </p:txBody>
      </p:sp>
      <p:sp>
        <p:nvSpPr>
          <p:cNvPr id="44" name="Text 3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Compass · NSIQ Infotech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ealth_compass/icons/compass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9235440" y="420624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8745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intelligent financial cockpit.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88036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connects all your accounts, calculates your exact net worth to the paisa, tells you how much risk you're taking — and warns you before things go wrong.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554480" y="4572000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7" name="Image 1" descr="/home/claude/wealth_compass/icons/pl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784" y="4718304"/>
            <a:ext cx="347472" cy="3474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5349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300" dirty="0"/>
          </a:p>
        </p:txBody>
      </p:sp>
      <p:pic>
        <p:nvPicPr>
          <p:cNvPr id="9" name="Image 2" descr="/home/claude/wealth_compass/icons/arrow_right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2953512" y="4736592"/>
            <a:ext cx="274320" cy="2743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977640" y="4572000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1" name="Image 3" descr="/home/claude/wealth_compass/icons/calcula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3944" y="4718304"/>
            <a:ext cx="347472" cy="34747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3246120" y="5349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300" dirty="0"/>
          </a:p>
        </p:txBody>
      </p:sp>
      <p:pic>
        <p:nvPicPr>
          <p:cNvPr id="13" name="Image 4" descr="/home/claude/wealth_compass/icons/arrow_right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5376672" y="4736592"/>
            <a:ext cx="274320" cy="27432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6400800" y="4572000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5" name="Image 5" descr="/home/claude/wealth_compass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4" y="4718304"/>
            <a:ext cx="347472" cy="347472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5669280" y="5349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Risk</a:t>
            </a:r>
            <a:endParaRPr lang="en-US" sz="1300" dirty="0"/>
          </a:p>
        </p:txBody>
      </p:sp>
      <p:pic>
        <p:nvPicPr>
          <p:cNvPr id="17" name="Image 6" descr="/home/claude/wealth_compass/icons/arrow_right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7799832" y="4736592"/>
            <a:ext cx="274320" cy="274320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8823960" y="4572000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9" name="Image 7" descr="/home/claude/wealth_compass/icons/bel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0264" y="4718304"/>
            <a:ext cx="347472" cy="347472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8092440" y="5349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once Wealth Compass is 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F4E3E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89320" y="1600200"/>
            <a:ext cx="5623560" cy="502920"/>
          </a:xfrm>
          <a:prstGeom prst="roundRect">
            <a:avLst>
              <a:gd name="adj" fmla="val 14545"/>
            </a:avLst>
          </a:prstGeom>
          <a:solidFill>
            <a:srgbClr val="DCF0E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89320" y="160020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7F8FC"/>
          </a:solidFill>
          <a:ln/>
        </p:spPr>
      </p:sp>
      <p:pic>
        <p:nvPicPr>
          <p:cNvPr id="9" name="Image 0" descr="/home/claude/wealth_compass/icons/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28316"/>
            <a:ext cx="292608" cy="29260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43000" y="21945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apps + 3 Excel files, 2 hours every Sunday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89320" y="2194560"/>
            <a:ext cx="5623560" cy="960120"/>
          </a:xfrm>
          <a:prstGeom prst="roundRect">
            <a:avLst>
              <a:gd name="adj" fmla="val 7619"/>
            </a:avLst>
          </a:prstGeom>
          <a:solidFill>
            <a:srgbClr val="F0F7F2"/>
          </a:solidFill>
          <a:ln/>
        </p:spPr>
      </p:sp>
      <p:pic>
        <p:nvPicPr>
          <p:cNvPr id="12" name="Image 1" descr="/home/claude/wealth_compas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52831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583680" y="21945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— Net Worth: ₹42,31,508.50, updated 2 min ago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33756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7F8FC"/>
          </a:solidFill>
          <a:ln/>
        </p:spPr>
      </p:sp>
      <p:pic>
        <p:nvPicPr>
          <p:cNvPr id="15" name="Image 2" descr="/home/claude/wealth_compass/icons/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7131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43000" y="33375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idea about risk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989320" y="3337560"/>
            <a:ext cx="5623560" cy="960120"/>
          </a:xfrm>
          <a:prstGeom prst="roundRect">
            <a:avLst>
              <a:gd name="adj" fmla="val 7619"/>
            </a:avLst>
          </a:prstGeom>
          <a:solidFill>
            <a:srgbClr val="F0F7F2"/>
          </a:solidFill>
          <a:ln/>
        </p:spPr>
      </p:sp>
      <p:pic>
        <p:nvPicPr>
          <p:cNvPr id="18" name="Image 3" descr="/home/claude/wealth_compas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67131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583680" y="33375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62/100 · VaR: could lose ₹84,000 tomorrow (95% confidence)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448056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7F8FC"/>
          </a:solidFill>
          <a:ln/>
        </p:spPr>
      </p:sp>
      <p:pic>
        <p:nvPicPr>
          <p:cNvPr id="21" name="Image 4" descr="/home/claude/wealth_compass/icons/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814316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43000" y="44805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FD maturity dates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5989320" y="4480560"/>
            <a:ext cx="5623560" cy="960120"/>
          </a:xfrm>
          <a:prstGeom prst="roundRect">
            <a:avLst>
              <a:gd name="adj" fmla="val 7619"/>
            </a:avLst>
          </a:prstGeom>
          <a:solidFill>
            <a:srgbClr val="F0F7F2"/>
          </a:solidFill>
          <a:ln/>
        </p:spPr>
      </p:sp>
      <p:pic>
        <p:nvPicPr>
          <p:cNvPr id="24" name="Image 5" descr="/home/claude/wealth_compas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814316"/>
            <a:ext cx="292608" cy="29260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583680" y="44805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“Your SBI FD of ₹5L matures in 7 days. Click to renew.”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548640" y="562356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7F8FC"/>
          </a:solidFill>
          <a:ln/>
        </p:spPr>
      </p:sp>
      <p:pic>
        <p:nvPicPr>
          <p:cNvPr id="27" name="Image 6" descr="/home/claude/wealth_compass/icons/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957316"/>
            <a:ext cx="292608" cy="29260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143000" y="56235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 rounding errors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5989320" y="5623560"/>
            <a:ext cx="5623560" cy="960120"/>
          </a:xfrm>
          <a:prstGeom prst="roundRect">
            <a:avLst>
              <a:gd name="adj" fmla="val 7619"/>
            </a:avLst>
          </a:prstGeom>
          <a:solidFill>
            <a:srgbClr val="F0F7F2"/>
          </a:solidFill>
          <a:ln/>
        </p:spPr>
      </p:sp>
      <p:pic>
        <p:nvPicPr>
          <p:cNvPr id="30" name="Image 7" descr="/home/claude/wealth_compas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5957316"/>
            <a:ext cx="292608" cy="29260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583680" y="56235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28-digit precision math — every paisa is exact</a:t>
            </a:r>
            <a:endParaRPr lang="en-US" sz="1250" dirty="0"/>
          </a:p>
        </p:txBody>
      </p:sp>
      <p:sp>
        <p:nvSpPr>
          <p:cNvPr id="32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Compass · NSIQ Infotech</a:t>
            </a:r>
            <a:endParaRPr lang="en-US" sz="1000" dirty="0"/>
          </a:p>
        </p:txBody>
      </p:sp>
      <p:sp>
        <p:nvSpPr>
          <p:cNvPr id="33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PROMISES YOU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core value promises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wealth_compass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924" y="21122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834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Wealth View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3520440"/>
            <a:ext cx="22768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for stocks, MFs, crypto, FDs, gold, and real estate — all in one total.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6916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66260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wealth_compass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564" y="211226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834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Numbers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3547872" y="3520440"/>
            <a:ext cx="22768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computes VaR, Sharpe, Beta, Max Drawdown — hedge-fund math for everyone.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6916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00900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wealth_compass/icons/be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7204" y="211226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834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Alerts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382512" y="3520440"/>
            <a:ext cx="22768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you BEFORE your portfolio drops 10%, not after. A smoke alarm for your money.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52560" y="16916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35540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wealth_compass/icons/calcula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1844" y="211226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89720" y="2834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Exact-to-Paisa Math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9217152" y="3520440"/>
            <a:ext cx="22768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Fixed-point Decimal math means never even 1 paisa of rounding error.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Compass · NSIQ Infotech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EXPERIENCE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holding knows its home. Every question gets an answer.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UX features carried across Web and Mobile — next to every holding and every chart.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4617720"/>
          </a:xfrm>
          <a:prstGeom prst="roundRect">
            <a:avLst>
              <a:gd name="adj" fmla="val 1980"/>
            </a:avLst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1-Click Platform Deep-Linking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4846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2788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87552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724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shares · Zerodha Kite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77640" y="2816352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E8E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977640" y="28163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Zerodha</a:t>
            </a:r>
            <a:endParaRPr lang="en-US" sz="1000" dirty="0"/>
          </a:p>
        </p:txBody>
      </p:sp>
      <p:pic>
        <p:nvPicPr>
          <p:cNvPr id="14" name="Image 0" descr="/home/claude/wealth_compass/icons/external_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2935224"/>
            <a:ext cx="146304" cy="14630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22960" y="3520440"/>
            <a:ext cx="4846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87552" y="3657600"/>
            <a:ext cx="457200" cy="457200"/>
          </a:xfrm>
          <a:prstGeom prst="ellipse">
            <a:avLst/>
          </a:prstGeom>
          <a:solidFill>
            <a:srgbClr val="1E8E6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87552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554480" y="3593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Bank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shares · Groww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77640" y="3685032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E8E6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977640" y="368503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Groww</a:t>
            </a:r>
            <a:endParaRPr lang="en-US" sz="1000" dirty="0"/>
          </a:p>
        </p:txBody>
      </p:sp>
      <p:pic>
        <p:nvPicPr>
          <p:cNvPr id="22" name="Image 1" descr="/home/claude/wealth_compass/icons/external_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3803904"/>
            <a:ext cx="146304" cy="146304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822960" y="4389120"/>
            <a:ext cx="4846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987552" y="452628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87552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1554480" y="44622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1554480" y="4754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shares · Upstox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3977640" y="4553712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E8E6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3977640" y="455371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Upstox</a:t>
            </a:r>
            <a:endParaRPr lang="en-US" sz="1000" dirty="0"/>
          </a:p>
        </p:txBody>
      </p:sp>
      <p:pic>
        <p:nvPicPr>
          <p:cNvPr id="30" name="Image 2" descr="/home/claude/wealth_compass/icons/external_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4672584"/>
            <a:ext cx="146304" cy="14630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22960" y="533095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holding carries the badge of the platform it lives on. One tap opens that exact stock in the broker's native app (URI scheme + biometric unlock on mobile) or web trading terminal — solving ‘which app has this?’ for good.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6217920" y="1874520"/>
            <a:ext cx="5422392" cy="4617720"/>
          </a:xfrm>
          <a:prstGeom prst="roundRect">
            <a:avLst>
              <a:gd name="adj" fmla="val 1980"/>
            </a:avLst>
          </a:prstGeom>
          <a:solidFill>
            <a:srgbClr val="141B4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492240" y="210312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34" name="Image 3" descr="/home/claude/wealth_compass/icons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212848"/>
            <a:ext cx="283464" cy="283464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7132320" y="21031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Compass AI Copilot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7132320" y="2386584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or get a suggestion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7589520" y="2880360"/>
            <a:ext cx="3776472" cy="640080"/>
          </a:xfrm>
          <a:prstGeom prst="round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726680" y="292608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overexposed to tech stocks across Zerodha and Groww?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6492240" y="3703320"/>
            <a:ext cx="4873752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675120" y="3794760"/>
            <a:ext cx="4507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is 34% of your equity book — 12 pts above target. Trimming ₹25,000 from Infosys would bring you back in line.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6492240" y="4754880"/>
            <a:ext cx="4873752" cy="457200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5875">
            <a:solidFill>
              <a:srgbClr val="D4A017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6492240" y="475488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rebalancing suggestion →</a:t>
            </a:r>
            <a:endParaRPr lang="en-US" sz="1200" dirty="0"/>
          </a:p>
        </p:txBody>
      </p:sp>
      <p:sp>
        <p:nvSpPr>
          <p:cNvPr id="43" name="Text 37"/>
          <p:cNvSpPr txBox="1"/>
          <p:nvPr/>
        </p:nvSpPr>
        <p:spPr>
          <a:xfrm>
            <a:off x="6492240" y="5394960"/>
            <a:ext cx="4873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floating, AI-powered suggestion box lives on every dashboard screen. Grounded in live holdings, Sharpe/Beta/HHI and cash-flow data, it answers natural-language questions and proactively surfaces trade, rebalancing and tax-saving ideas — with SEBI advisory disclaimers on every response.</a:t>
            </a:r>
            <a:endParaRPr lang="en-US" sz="1050" dirty="0"/>
          </a:p>
        </p:txBody>
      </p:sp>
      <p:sp>
        <p:nvSpPr>
          <p:cNvPr id="44" name="Text 3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Compass · Fresher Onboarding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planned for the build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Turborepo monorepo pairing a NestJS modular monolith with a specialized Python quant microservice.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38728" cy="1078992"/>
          </a:xfrm>
          <a:prstGeom prst="rect">
            <a:avLst/>
          </a:prstGeom>
          <a:solidFill>
            <a:srgbClr val="F3F6FC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13055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87552" y="2057400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" y="2386584"/>
            <a:ext cx="31272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Turborepo + pnpm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538728" cy="1078992"/>
          </a:xfrm>
          <a:prstGeom prst="rect">
            <a:avLst/>
          </a:prstGeom>
          <a:solidFill>
            <a:srgbClr val="F3F6FC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2856" y="213055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782312" y="2057400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Frontend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62856" y="2386584"/>
            <a:ext cx="31272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Router), React 18, Tailwind CSS, Shadcn UI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138160" y="1965960"/>
            <a:ext cx="3538728" cy="1078992"/>
          </a:xfrm>
          <a:prstGeom prst="rect">
            <a:avLst/>
          </a:prstGeom>
          <a:solidFill>
            <a:srgbClr val="F3F6FC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7616" y="213055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8577072" y="2057400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57616" y="2386584"/>
            <a:ext cx="31272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Expo, React Navigation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548640" y="3264408"/>
            <a:ext cx="3538728" cy="1078992"/>
          </a:xfrm>
          <a:prstGeom prst="rect">
            <a:avLst/>
          </a:prstGeom>
          <a:solidFill>
            <a:srgbClr val="F3F6FC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" y="3429000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3355848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68096" y="3685032"/>
            <a:ext cx="31272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(Node.js) + TypeScript, OpenAPI/Swagger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4343400" y="3264408"/>
            <a:ext cx="3538728" cy="1078992"/>
          </a:xfrm>
          <a:prstGeom prst="rect">
            <a:avLst/>
          </a:prstGeom>
          <a:solidFill>
            <a:srgbClr val="F3F6FC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62856" y="3429000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4782312" y="3355848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Microservice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62856" y="3685032"/>
            <a:ext cx="31272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3.11, FastAPI, NumPy, pandas, SciPy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138160" y="3264408"/>
            <a:ext cx="3538728" cy="1078992"/>
          </a:xfrm>
          <a:prstGeom prst="rect">
            <a:avLst/>
          </a:prstGeom>
          <a:solidFill>
            <a:srgbClr val="F3F6FC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57616" y="3429000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8577072" y="3355848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ORM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357616" y="3685032"/>
            <a:ext cx="31272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Prisma (Decimal precision)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548640" y="4562856"/>
            <a:ext cx="3538728" cy="1078992"/>
          </a:xfrm>
          <a:prstGeom prst="rect">
            <a:avLst/>
          </a:prstGeom>
          <a:solidFill>
            <a:srgbClr val="F3F6FC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" y="4727448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" y="4654296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&amp; Queues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68096" y="4983480"/>
            <a:ext cx="31272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 + BullMQ (async jobs, price cache)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4343400" y="4562856"/>
            <a:ext cx="3538728" cy="1078992"/>
          </a:xfrm>
          <a:prstGeom prst="rect">
            <a:avLst/>
          </a:prstGeom>
          <a:solidFill>
            <a:srgbClr val="F3F6FC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62856" y="4727448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5" name="Text 33"/>
          <p:cNvSpPr/>
          <p:nvPr/>
        </p:nvSpPr>
        <p:spPr>
          <a:xfrm>
            <a:off x="4782312" y="4654296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62856" y="4983480"/>
            <a:ext cx="31272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+ Apache ECharts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8138160" y="4562856"/>
            <a:ext cx="3538728" cy="1078992"/>
          </a:xfrm>
          <a:prstGeom prst="rect">
            <a:avLst/>
          </a:prstGeom>
          <a:solidFill>
            <a:srgbClr val="F3F6FC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57616" y="4727448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9" name="Text 37"/>
          <p:cNvSpPr/>
          <p:nvPr/>
        </p:nvSpPr>
        <p:spPr>
          <a:xfrm>
            <a:off x="8577072" y="4654296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Cloud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357616" y="4983480"/>
            <a:ext cx="31272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GitHub Actions, AWS ECS/RDS (ap-south-1 Mumbai)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Compass · NSIQ Infotech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(SIMPLIFIED)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simple steps behind every dashboard number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4343400"/>
          </a:xfrm>
          <a:prstGeom prst="roundRect">
            <a:avLst>
              <a:gd name="adj" fmla="val 3200"/>
            </a:avLst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10896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wealth_compass/icons/pl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2029968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1089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link Zerodha, Groww, Binance via secure read-only OAuth — or upload a CSV, or type it in manually (gold, real estate, FDs).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77240" y="4937760"/>
            <a:ext cx="2971800" cy="0"/>
          </a:xfrm>
          <a:prstGeom prst="line">
            <a:avLst/>
          </a:prstGeom>
          <a:noFill/>
          <a:ln w="12700">
            <a:solidFill>
              <a:srgbClr val="D9DC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505663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Read-only. It can never place a trade or move your money.</a:t>
            </a:r>
            <a:endParaRPr lang="en-US" sz="1100" dirty="0"/>
          </a:p>
        </p:txBody>
      </p:sp>
      <p:pic>
        <p:nvPicPr>
          <p:cNvPr id="13" name="Image 1" descr="/home/claude/wealth_compass/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072" y="3726180"/>
            <a:ext cx="201168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233672" y="1691640"/>
            <a:ext cx="3429000" cy="4343400"/>
          </a:xfrm>
          <a:prstGeom prst="roundRect">
            <a:avLst>
              <a:gd name="adj" fmla="val 3200"/>
            </a:avLst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462272" y="192024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46227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6793992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wealth_compass/icons/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2029968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462272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4462272" y="31089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fetches live prices, runs FIFO cost-basis math in Decimal.js, and asks a Python engine to compute VaR, Sharpe, and Beta.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462272" y="4937760"/>
            <a:ext cx="2971800" cy="0"/>
          </a:xfrm>
          <a:prstGeom prst="line">
            <a:avLst/>
          </a:prstGeom>
          <a:noFill/>
          <a:ln w="12700">
            <a:solidFill>
              <a:srgbClr val="D9DCE6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462272" y="505663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handles the app logic, Python handles the heavy math.</a:t>
            </a:r>
            <a:endParaRPr lang="en-US" sz="1100" dirty="0"/>
          </a:p>
        </p:txBody>
      </p:sp>
      <p:pic>
        <p:nvPicPr>
          <p:cNvPr id="23" name="Image 3" descr="/home/claude/wealth_compass/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104" y="3726180"/>
            <a:ext cx="201168" cy="27432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918704" y="1691640"/>
            <a:ext cx="3429000" cy="4343400"/>
          </a:xfrm>
          <a:prstGeom prst="roundRect">
            <a:avLst>
              <a:gd name="adj" fmla="val 3200"/>
            </a:avLst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147304" y="192024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8147304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Shape 21"/>
          <p:cNvSpPr/>
          <p:nvPr/>
        </p:nvSpPr>
        <p:spPr>
          <a:xfrm>
            <a:off x="10479024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4" descr="/home/claude/wealth_compass/icons/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8752" y="2029968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147304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&amp; Show</a:t>
            </a:r>
            <a:endParaRPr lang="en-US" sz="1900" dirty="0"/>
          </a:p>
        </p:txBody>
      </p:sp>
      <p:sp>
        <p:nvSpPr>
          <p:cNvPr id="30" name="Text 23"/>
          <p:cNvSpPr txBox="1"/>
          <p:nvPr/>
        </p:nvSpPr>
        <p:spPr>
          <a:xfrm>
            <a:off x="8147304" y="31089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land on your dashboard instantly, and an Alert Engine checks your rules — emailing or pushing a notification only when something truly matters.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8147304" y="4937760"/>
            <a:ext cx="2971800" cy="0"/>
          </a:xfrm>
          <a:prstGeom prst="line">
            <a:avLst/>
          </a:prstGeom>
          <a:noFill/>
          <a:ln w="12700">
            <a:solidFill>
              <a:srgbClr val="D9DCE6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8147304" y="505663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cooldowns mean you're never spammed.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Compass · NSIQ Infotech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Wealth Compass — System Architecture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813816"/>
            <a:ext cx="110944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CLIENT FRONTENDS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978408"/>
            <a:ext cx="5364328" cy="731520"/>
          </a:xfrm>
          <a:prstGeom prst="roundRect">
            <a:avLst>
              <a:gd name="adj" fmla="val 10000"/>
            </a:avLst>
          </a:prstGeom>
          <a:solidFill>
            <a:srgbClr val="EAEEF9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78992"/>
            <a:ext cx="536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Web Portal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1389888"/>
            <a:ext cx="5364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Port 3001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78728" y="978408"/>
            <a:ext cx="5364328" cy="731520"/>
          </a:xfrm>
          <a:prstGeom prst="roundRect">
            <a:avLst>
              <a:gd name="adj" fmla="val 10000"/>
            </a:avLst>
          </a:prstGeom>
          <a:solidFill>
            <a:srgbClr val="EAEEF9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78728" y="1078992"/>
            <a:ext cx="536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Mobile App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278728" y="1389888"/>
            <a:ext cx="5364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Expo SDK 52 / PWA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5848" y="1764792"/>
            <a:ext cx="0" cy="14630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548640" y="1956816"/>
            <a:ext cx="110944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GATEWAY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2121408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61B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231136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NestJS Modular Monolith Gateway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EB8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(Port 3000)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2542032"/>
            <a:ext cx="1054577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RBAC (Argon2id, Dual JWT)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Ingestion Engine (Excel, RBI AA, CSV)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Lot Matching (FIFO &amp; Weighted Average)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Cryptoservice (AES-256-GCM Envelope Encryption)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BullMQ Job Producers &amp; Redis Lock Manager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275789" y="3547872"/>
            <a:ext cx="0" cy="14630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95848" y="3547872"/>
            <a:ext cx="0" cy="14630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915906" y="3547872"/>
            <a:ext cx="0" cy="14630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548640" y="3739896"/>
            <a:ext cx="110944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COMPUTE LAYER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3904488"/>
            <a:ext cx="3454298" cy="1371600"/>
          </a:xfrm>
          <a:prstGeom prst="roundRect">
            <a:avLst>
              <a:gd name="adj" fmla="val 4667"/>
            </a:avLst>
          </a:prstGeom>
          <a:solidFill>
            <a:srgbClr val="E7F4F3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995928"/>
            <a:ext cx="31251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TimescaleDB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13232" y="4233672"/>
            <a:ext cx="31251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Port 5432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713232" y="4453128"/>
            <a:ext cx="312511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9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 Relational Models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9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Decimal(18,8) Ledger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9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Hypertable Price History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9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FIFO Lot Tracking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368698" y="3904488"/>
            <a:ext cx="3454298" cy="1371600"/>
          </a:xfrm>
          <a:prstGeom prst="roundRect">
            <a:avLst>
              <a:gd name="adj" fmla="val 4667"/>
            </a:avLst>
          </a:prstGeom>
          <a:solidFill>
            <a:srgbClr val="E7F4F3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33290" y="3995928"/>
            <a:ext cx="31251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Redis 7 Cluster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4533290" y="4233672"/>
            <a:ext cx="31251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Port 6379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4533290" y="4453128"/>
            <a:ext cx="312511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9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BullMQ Job Queues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9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Lock Manager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9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Session Token Denylist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9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Valuation Cache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188757" y="3904488"/>
            <a:ext cx="3454298" cy="1371600"/>
          </a:xfrm>
          <a:prstGeom prst="roundRect">
            <a:avLst>
              <a:gd name="adj" fmla="val 4667"/>
            </a:avLst>
          </a:prstGeom>
          <a:solidFill>
            <a:srgbClr val="E7F4F3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53349" y="3995928"/>
            <a:ext cx="31251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Quant Engine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8353349" y="4233672"/>
            <a:ext cx="31251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Port 8000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8353349" y="4453128"/>
            <a:ext cx="312511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9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FastAPI Microservice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9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NumPy / SciPy Solvers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9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VaR, CVaR, Sharpe, Sortino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9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CAPM Beta &amp; HHI Index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915906" y="5330952"/>
            <a:ext cx="0" cy="14630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548640" y="5522976"/>
            <a:ext cx="110944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777277" y="5687568"/>
            <a:ext cx="4277258" cy="914400"/>
          </a:xfrm>
          <a:prstGeom prst="roundRect">
            <a:avLst>
              <a:gd name="adj" fmla="val 8000"/>
            </a:avLst>
          </a:prstGeom>
          <a:solidFill>
            <a:srgbClr val="E8871E"/>
          </a:solidFill>
          <a:ln w="12700">
            <a:solidFill>
              <a:srgbClr val="C46E1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960157" y="5769864"/>
            <a:ext cx="39114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Service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BE4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(Port 8001)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7960157" y="6016752"/>
            <a:ext cx="391149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llama-3.3-70b-versatile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Fallback Engine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Tax-Loss Harvesting Advice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0FF379AA-F6E0-D966-7BDB-6FB8A4FC0D94}"/>
              </a:ext>
            </a:extLst>
          </p:cNvPr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Compass · NSIQ Infotech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broker connects via the Account Aggregator (AA)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438248" y="1481328"/>
            <a:ext cx="7315200" cy="475488"/>
          </a:xfrm>
          <a:prstGeom prst="roundRect">
            <a:avLst>
              <a:gd name="adj" fmla="val 17308"/>
            </a:avLst>
          </a:prstGeom>
          <a:solidFill>
            <a:srgbClr val="F7F8FC"/>
          </a:solidFill>
          <a:ln/>
          <a:effectLst>
            <a:outerShdw blurRad="50800" dist="25400" dir="5400000" algn="bl" rotWithShape="0">
              <a:srgbClr val="44546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20544" y="15544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wealth_compass/icons/mouse_poi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696" y="1627632"/>
            <a:ext cx="182880" cy="182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986888" y="1508760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“Connect Broker”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2986888" y="1732788"/>
            <a:ext cx="653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Wealth Compass web or mobile app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095848" y="1956816"/>
            <a:ext cx="0" cy="25603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438248" y="2212848"/>
            <a:ext cx="7315200" cy="475488"/>
          </a:xfrm>
          <a:prstGeom prst="roundRect">
            <a:avLst>
              <a:gd name="adj" fmla="val 17308"/>
            </a:avLst>
          </a:prstGeom>
          <a:solidFill>
            <a:srgbClr val="CADCFC"/>
          </a:solidFill>
          <a:ln/>
          <a:effectLst>
            <a:outerShdw blurRad="50800" dist="25400" dir="5400000" algn="bl" rotWithShape="0">
              <a:srgbClr val="44546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20544" y="228600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wealth_compass/icons/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3696" y="2359152"/>
            <a:ext cx="182880" cy="1828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86888" y="2240280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Groww / Angel One / Zerodha / Upstox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2986888" y="2464308"/>
            <a:ext cx="653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picks which broker account to link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95848" y="2688336"/>
            <a:ext cx="0" cy="25603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2438248" y="2944368"/>
            <a:ext cx="7315200" cy="475488"/>
          </a:xfrm>
          <a:prstGeom prst="roundRect">
            <a:avLst>
              <a:gd name="adj" fmla="val 17308"/>
            </a:avLst>
          </a:prstGeom>
          <a:solidFill>
            <a:srgbClr val="F7F8FC"/>
          </a:solidFill>
          <a:ln/>
          <a:effectLst>
            <a:outerShdw blurRad="50800" dist="25400" dir="5400000" algn="bl" rotWithShape="0">
              <a:srgbClr val="44546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520544" y="301752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wealth_compass/icons/shield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3696" y="3090672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986888" y="2971800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Consent Screen (Setu)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2986888" y="3195828"/>
            <a:ext cx="653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Account Aggregator framework asks what data to share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095848" y="3419856"/>
            <a:ext cx="0" cy="25603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2438248" y="3675888"/>
            <a:ext cx="7315200" cy="475488"/>
          </a:xfrm>
          <a:prstGeom prst="roundRect">
            <a:avLst>
              <a:gd name="adj" fmla="val 17308"/>
            </a:avLst>
          </a:prstGeom>
          <a:solidFill>
            <a:srgbClr val="CADCFC"/>
          </a:solidFill>
          <a:ln/>
          <a:effectLst>
            <a:outerShdw blurRad="50800" dist="25400" dir="5400000" algn="bl" rotWithShape="0">
              <a:srgbClr val="44546A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520544" y="374904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/home/claude/wealth_compass/icons/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3696" y="3822192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2986888" y="3703320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approves consent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2986888" y="3927348"/>
            <a:ext cx="653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Explicit, time-bound, revocable permission — nothing is assumed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6095848" y="4151376"/>
            <a:ext cx="0" cy="25603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2438248" y="4407408"/>
            <a:ext cx="7315200" cy="475488"/>
          </a:xfrm>
          <a:prstGeom prst="roundRect">
            <a:avLst>
              <a:gd name="adj" fmla="val 17308"/>
            </a:avLst>
          </a:prstGeom>
          <a:solidFill>
            <a:srgbClr val="F7F8FC"/>
          </a:solidFill>
          <a:ln/>
          <a:effectLst>
            <a:outerShdw blurRad="50800" dist="25400" dir="5400000" algn="bl" rotWithShape="0">
              <a:srgbClr val="44546A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2520544" y="448056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4" descr="/home/claude/wealth_compass/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3696" y="4553712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2986888" y="4434840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fetches holdings from CDSL/NSDL-linked accounts</a:t>
            </a:r>
            <a:endParaRPr lang="en-US" sz="1350" dirty="0"/>
          </a:p>
        </p:txBody>
      </p:sp>
      <p:sp>
        <p:nvSpPr>
          <p:cNvPr id="32" name="Text 25"/>
          <p:cNvSpPr txBox="1"/>
          <p:nvPr/>
        </p:nvSpPr>
        <p:spPr>
          <a:xfrm>
            <a:off x="2986888" y="4658868"/>
            <a:ext cx="653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pulls verified holdings straight from the depositories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6095848" y="4882896"/>
            <a:ext cx="0" cy="25603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2438248" y="5138928"/>
            <a:ext cx="7315200" cy="475488"/>
          </a:xfrm>
          <a:prstGeom prst="roundRect">
            <a:avLst>
              <a:gd name="adj" fmla="val 17308"/>
            </a:avLst>
          </a:prstGeom>
          <a:solidFill>
            <a:srgbClr val="CADCFC"/>
          </a:solidFill>
          <a:ln/>
          <a:effectLst>
            <a:outerShdw blurRad="50800" dist="25400" dir="5400000" algn="bl" rotWithShape="0">
              <a:srgbClr val="44546A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2520544" y="52120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5" descr="/home/claude/wealth_compass/icons/compas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3696" y="5285232"/>
            <a:ext cx="182880" cy="18288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2986888" y="5166360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Wealth Compass dashboard</a:t>
            </a:r>
            <a:endParaRPr lang="en-US" sz="1350" dirty="0"/>
          </a:p>
        </p:txBody>
      </p:sp>
      <p:sp>
        <p:nvSpPr>
          <p:cNvPr id="38" name="Text 30"/>
          <p:cNvSpPr txBox="1"/>
          <p:nvPr/>
        </p:nvSpPr>
        <p:spPr>
          <a:xfrm>
            <a:off x="2986888" y="5390388"/>
            <a:ext cx="653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data lands in the Providers Module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6095848" y="5614416"/>
            <a:ext cx="0" cy="25603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0" name="Shape 32"/>
          <p:cNvSpPr/>
          <p:nvPr/>
        </p:nvSpPr>
        <p:spPr>
          <a:xfrm>
            <a:off x="2438248" y="5870448"/>
            <a:ext cx="7315200" cy="475488"/>
          </a:xfrm>
          <a:prstGeom prst="roundRect">
            <a:avLst>
              <a:gd name="adj" fmla="val 17308"/>
            </a:avLst>
          </a:prstGeom>
          <a:solidFill>
            <a:srgbClr val="F7F8FC"/>
          </a:solidFill>
          <a:ln/>
          <a:effectLst>
            <a:outerShdw blurRad="50800" dist="25400" dir="5400000" algn="bl" rotWithShape="0">
              <a:srgbClr val="44546A">
                <a:alpha val="1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2520544" y="594360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2" name="Image 6" descr="/home/claude/wealth_compass/icons/pie_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93696" y="6016752"/>
            <a:ext cx="182880" cy="182880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2986888" y="5897880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Portfolio View</a:t>
            </a:r>
            <a:endParaRPr lang="en-US" sz="1350" dirty="0"/>
          </a:p>
        </p:txBody>
      </p:sp>
      <p:sp>
        <p:nvSpPr>
          <p:cNvPr id="44" name="Text 35"/>
          <p:cNvSpPr txBox="1"/>
          <p:nvPr/>
        </p:nvSpPr>
        <p:spPr>
          <a:xfrm>
            <a:off x="2986888" y="6121908"/>
            <a:ext cx="653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worth, risk, and alerts — all in one screen</a:t>
            </a:r>
            <a:endParaRPr lang="en-US" sz="950" dirty="0"/>
          </a:p>
        </p:txBody>
      </p:sp>
      <p:sp>
        <p:nvSpPr>
          <p:cNvPr id="45" name="Text 3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Compass · NSIQ Infotech</a:t>
            </a:r>
            <a:endParaRPr lang="en-US" sz="1000" dirty="0"/>
          </a:p>
        </p:txBody>
      </p:sp>
      <p:sp>
        <p:nvSpPr>
          <p:cNvPr id="46" name="Text 3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1203808" y="4663440"/>
            <a:ext cx="978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Wealth Compass turns “5 apps and 2 confused hours” into “1 screen and 3 honest seconds” — with your risk shown, not hidden.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4114800"/>
            <a:ext cx="5760720" cy="0"/>
          </a:xfrm>
          <a:prstGeom prst="line">
            <a:avLst/>
          </a:prstGeom>
          <a:noFill/>
          <a:ln w="12700">
            <a:solidFill>
              <a:srgbClr val="3B438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Compass · NSIQ Infotech</a:t>
            </a:r>
            <a:endParaRPr lang="en-US" sz="10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1D022FA8-340A-A2F8-E726-68FB39A34AA4}"/>
              </a:ext>
            </a:extLst>
          </p:cNvPr>
          <p:cNvSpPr txBox="1"/>
          <p:nvPr/>
        </p:nvSpPr>
        <p:spPr>
          <a:xfrm>
            <a:off x="1203808" y="2162369"/>
            <a:ext cx="978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Thank you </a:t>
            </a:r>
            <a:endParaRPr lang="en-US" sz="4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3318F1B-3783-10B7-0AB1-8B26B83F1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369" y="822960"/>
            <a:ext cx="1262781" cy="12398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1497</Words>
  <Application>Microsoft Office PowerPoint</Application>
  <PresentationFormat>Widescreen</PresentationFormat>
  <Paragraphs>230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suraj Golai</cp:lastModifiedBy>
  <cp:revision>3</cp:revision>
  <dcterms:created xsi:type="dcterms:W3CDTF">2026-09-15T21:09:23Z</dcterms:created>
  <dcterms:modified xsi:type="dcterms:W3CDTF">2026-09-16T04:04:07Z</dcterms:modified>
</cp:coreProperties>
</file>
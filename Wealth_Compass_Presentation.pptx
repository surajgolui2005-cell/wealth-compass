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8" r:id="rId2"/>
    <p:sldId id="269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7" r:id="rId11"/>
    <p:sldId id="264" r:id="rId12"/>
    <p:sldId id="256" r:id="rId13"/>
    <p:sldId id="265" r:id="rId14"/>
    <p:sldId id="266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69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18214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96955-68E9-2D4E-C180-01B4358A9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8FD4AB-ACE7-BF56-5A08-FDF8F2568D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E0FF5D-DE92-2EDD-1329-89F3657D77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81C4D-C55E-0D96-C627-373ECE01C5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99068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0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8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141B47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206240"/>
            <a:ext cx="2926080" cy="2926080"/>
          </a:xfrm>
          <a:prstGeom prst="ellipse">
            <a:avLst/>
          </a:prstGeom>
          <a:solidFill>
            <a:srgbClr val="141B47"/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4846320"/>
            <a:ext cx="3291840" cy="3291840"/>
          </a:xfrm>
          <a:prstGeom prst="ellipse">
            <a:avLst/>
          </a:prstGeom>
          <a:solidFill>
            <a:srgbClr val="141B4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85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NSIQ INFOTECH HACKATHON CHALLENGE</a:t>
            </a:r>
          </a:p>
        </p:txBody>
      </p:sp>
      <p:sp>
        <p:nvSpPr>
          <p:cNvPr id="6" name="Text 4"/>
          <p:cNvSpPr/>
          <p:nvPr/>
        </p:nvSpPr>
        <p:spPr>
          <a:xfrm>
            <a:off x="777240" y="19659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Wealth Compass</a:t>
            </a:r>
            <a:endParaRPr kumimoji="0" lang="en-US" sz="6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822960" y="32461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F3F6F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Investor Portfolio Monitoring &amp; Risk Management System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38862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1" u="none" strike="noStrike" kern="1200" cap="none" spc="0" normalizeH="0" baseline="0" noProof="0" dirty="0">
                <a:ln>
                  <a:noFill/>
                </a:ln>
                <a:solidFill>
                  <a:srgbClr val="C7D0E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 unified, India-first platform that consolidates every investment — equities, mutual funds, F&amp;O, gold, EPF/PPF, FDs, REITs and crypto — into one dashboard with real performance, risk and diversification intelligence.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22960" y="5349240"/>
            <a:ext cx="27432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4864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Team: Genz Analytics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Member: Suraj Golai , enroll: 202302626010024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Member: Alhaj Shaikh, enroll:202402626010165 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GLS University, Ahmedabad  ·  BTech Computer Science &amp; Engineering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7A64CD-AA94-D3D6-4CF5-2CBE7127E0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5385" y="0"/>
            <a:ext cx="3257550" cy="990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EF7BB0-D0B6-9DC1-BABF-DD529EC28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998DF5-E3DB-8993-2399-62D369EE8E46}"/>
              </a:ext>
            </a:extLst>
          </p:cNvPr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141B47"/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D4A4D85-3506-B176-45F1-8AA491E3C0E0}"/>
              </a:ext>
            </a:extLst>
          </p:cNvPr>
          <p:cNvSpPr/>
          <p:nvPr/>
        </p:nvSpPr>
        <p:spPr>
          <a:xfrm>
            <a:off x="10881360" y="4206240"/>
            <a:ext cx="2926080" cy="2926080"/>
          </a:xfrm>
          <a:prstGeom prst="ellipse">
            <a:avLst/>
          </a:prstGeom>
          <a:solidFill>
            <a:srgbClr val="141B47"/>
          </a:solidFill>
          <a:ln/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94D2F0C-D994-FD01-EBB4-1280B05754C4}"/>
              </a:ext>
            </a:extLst>
          </p:cNvPr>
          <p:cNvSpPr/>
          <p:nvPr/>
        </p:nvSpPr>
        <p:spPr>
          <a:xfrm>
            <a:off x="-1280160" y="4846320"/>
            <a:ext cx="3291840" cy="3291840"/>
          </a:xfrm>
          <a:prstGeom prst="ellipse">
            <a:avLst/>
          </a:prstGeom>
          <a:solidFill>
            <a:srgbClr val="141B47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1D805FC-7675-A342-9AA0-A0FD0194CC4F}"/>
              </a:ext>
            </a:extLst>
          </p:cNvPr>
          <p:cNvSpPr/>
          <p:nvPr/>
        </p:nvSpPr>
        <p:spPr>
          <a:xfrm>
            <a:off x="822960" y="685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NSIQ INFOTECH HACKATHON CHALLENGE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00F2413-1B28-E4C1-5FAF-5D2423B0C025}"/>
              </a:ext>
            </a:extLst>
          </p:cNvPr>
          <p:cNvSpPr/>
          <p:nvPr/>
        </p:nvSpPr>
        <p:spPr>
          <a:xfrm>
            <a:off x="777240" y="13258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IN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PROBLEM STATEMENT </a:t>
            </a:r>
            <a:endParaRPr lang="en-US" sz="6000" b="1" dirty="0">
              <a:solidFill>
                <a:srgbClr val="FFFFFF"/>
              </a:solidFill>
              <a:latin typeface="Cambria" pitchFamily="34" charset="0"/>
              <a:ea typeface="Cambria" pitchFamily="34" charset="-122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6720832-54F4-1105-C3BA-FEFF8309C11C}"/>
              </a:ext>
            </a:extLst>
          </p:cNvPr>
          <p:cNvSpPr/>
          <p:nvPr/>
        </p:nvSpPr>
        <p:spPr>
          <a:xfrm>
            <a:off x="822960" y="32461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IN" sz="2200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investors hold assets across multiple platforms, resulting in fragmented information and limited visibility into overall financial position. Without a centralized system, tracking portfolio performance, assessing diversification, monitoring risk exposure, and identifying trends becomes difficult. Build a system that consolidates portfolio data, monitors performance</a:t>
            </a:r>
            <a:r>
              <a:rPr lang="en-IN" dirty="0"/>
              <a:t> </a:t>
            </a:r>
            <a:r>
              <a:rPr lang="en-IN" sz="2200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analyses asset allocation, and generates risk insights</a:t>
            </a:r>
            <a:r>
              <a:rPr lang="en-IN" dirty="0"/>
              <a:t>.</a:t>
            </a:r>
            <a:endParaRPr lang="en-US" sz="2200" dirty="0">
              <a:solidFill>
                <a:srgbClr val="F3F6F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4988918E-5455-2E4B-3E83-789C7F19D4E9}"/>
              </a:ext>
            </a:extLst>
          </p:cNvPr>
          <p:cNvSpPr/>
          <p:nvPr/>
        </p:nvSpPr>
        <p:spPr>
          <a:xfrm>
            <a:off x="822960" y="5349240"/>
            <a:ext cx="27432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959330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money is scattered. Your risk is invisible.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7F8FC"/>
          </a:solidFill>
          <a:ln/>
          <a:effectLst>
            <a:outerShdw blurRad="101600" dist="38100" dir="5400000" algn="bl" rotWithShape="0">
              <a:srgbClr val="44546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this: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3172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money sitting in 5 different places — Zerodha, Groww, Binance, a Bank FD, and some Gold.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3337560"/>
            <a:ext cx="4572000" cy="0"/>
          </a:xfrm>
          <a:prstGeom prst="line">
            <a:avLst/>
          </a:prstGeom>
          <a:noFill/>
          <a:ln w="12700">
            <a:solidFill>
              <a:srgbClr val="D9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35204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single day, you open 5 different apps just to answer one question: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16052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much money do I actually have?”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7548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even then, you still can't answer the scarier question: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525780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i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“Could I lose ₹5 Lakhs tomorrow if the market crashes?”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828800"/>
            <a:ext cx="1417320" cy="685800"/>
          </a:xfrm>
          <a:prstGeom prst="roundRect">
            <a:avLst>
              <a:gd name="adj" fmla="val 13333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82880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Zerodha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595360" y="1645920"/>
            <a:ext cx="1417320" cy="685800"/>
          </a:xfrm>
          <a:prstGeom prst="roundRect">
            <a:avLst>
              <a:gd name="adj" fmla="val 13333"/>
            </a:avLst>
          </a:prstGeom>
          <a:solidFill>
            <a:srgbClr val="CADC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5360" y="16459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Groww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332720" y="2377440"/>
            <a:ext cx="1417320" cy="685800"/>
          </a:xfrm>
          <a:prstGeom prst="roundRect">
            <a:avLst>
              <a:gd name="adj" fmla="val 13333"/>
            </a:avLst>
          </a:prstGeom>
          <a:solidFill>
            <a:srgbClr val="CADC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332720" y="23774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Binance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75120" y="3566160"/>
            <a:ext cx="1417320" cy="685800"/>
          </a:xfrm>
          <a:prstGeom prst="roundRect">
            <a:avLst>
              <a:gd name="adj" fmla="val 13333"/>
            </a:avLst>
          </a:prstGeom>
          <a:solidFill>
            <a:srgbClr val="CADCF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75120" y="35661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FD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869680" y="3931920"/>
            <a:ext cx="1417320" cy="685800"/>
          </a:xfrm>
          <a:prstGeom prst="roundRect">
            <a:avLst>
              <a:gd name="adj" fmla="val 13333"/>
            </a:avLst>
          </a:prstGeom>
          <a:solidFill>
            <a:srgbClr val="CADCF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69680" y="39319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38160" y="512064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138160" y="50749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48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6446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apps. 1 unanswered question.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Compass · NSIQ Infotech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IN DETAIL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real problems every Indian investor faces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home/claude/wealth_compass/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659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764792"/>
            <a:ext cx="2743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Fragmentation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1764792"/>
            <a:ext cx="7315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Zerodha, Groww, Binance, HDFC Bank — all separate. No single total, ever.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830068"/>
            <a:ext cx="11064240" cy="0"/>
          </a:xfrm>
          <a:prstGeom prst="line">
            <a:avLst/>
          </a:prstGeom>
          <a:noFill/>
          <a:ln w="12700">
            <a:solidFill>
              <a:srgbClr val="E3E6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990088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/home/claude/wealth_compass/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127248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2926080"/>
            <a:ext cx="2743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Blindness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297680" y="2926080"/>
            <a:ext cx="7315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shows “Stocks ↑ 12%” but never warns “85% of your money is in risky tech stocks!”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48640" y="3991356"/>
            <a:ext cx="11064240" cy="0"/>
          </a:xfrm>
          <a:prstGeom prst="line">
            <a:avLst/>
          </a:prstGeom>
          <a:noFill/>
          <a:ln w="12700">
            <a:solidFill>
              <a:srgbClr val="E3E6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4151376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2" descr="/home/claude/wealth_compass/icons/calcula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288536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4087368"/>
            <a:ext cx="2743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Errors in Money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297680" y="4087368"/>
            <a:ext cx="7315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 do 0.1 + 0.2 = 0.30000000000000004. In banking, even 1 paisa error is unacceptable.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548640" y="5152644"/>
            <a:ext cx="11064240" cy="0"/>
          </a:xfrm>
          <a:prstGeom prst="line">
            <a:avLst/>
          </a:prstGeom>
          <a:noFill/>
          <a:ln w="12700">
            <a:solidFill>
              <a:srgbClr val="E3E6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48640" y="5312664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/home/claude/wealth_compass/icons/b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5449824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17320" y="5248656"/>
            <a:ext cx="2743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Fatigue or No Alerts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297680" y="5248656"/>
            <a:ext cx="7315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50 useless notifications spam you, or the app stays silent while your portfolio drops 15%.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Compass · NSIQ Infotech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FEELS THIS PAIN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real investors, one shared frustration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429768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08760" y="19659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wealth_compass/icons/user_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4208" y="2121408"/>
            <a:ext cx="374904" cy="3749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7889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Alex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1729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HNW Investor · 42 · Mumbai CFO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22960" y="3776472"/>
            <a:ext cx="2057400" cy="0"/>
          </a:xfrm>
          <a:prstGeom prst="line">
            <a:avLst/>
          </a:prstGeom>
          <a:noFill/>
          <a:ln w="12700">
            <a:solidFill>
              <a:srgbClr val="E3E6E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39044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Portfolio: </a:t>
            </a:r>
            <a:r>
              <a:rPr lang="en-US" sz="11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₹8–15 Cr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2062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r>
              <a:rPr lang="en-US" sz="110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Zerodha + HDFC FD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85800" y="475488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F7F8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4672" y="4846320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Spends every Sunday reconciling 6 spreadsheets.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355848" y="1691640"/>
            <a:ext cx="2606040" cy="429768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15968" y="19659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1" descr="/home/claude/wealth_compass/icons/user_ast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2121408"/>
            <a:ext cx="374904" cy="37490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355848" y="27889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Maya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1729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Trader · 29 · Bengaluru Dev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3630168" y="3776472"/>
            <a:ext cx="2057400" cy="0"/>
          </a:xfrm>
          <a:prstGeom prst="line">
            <a:avLst/>
          </a:prstGeom>
          <a:noFill/>
          <a:ln w="12700">
            <a:solidFill>
              <a:srgbClr val="E3E6E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538728" y="39044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Portfolio: </a:t>
            </a:r>
            <a:r>
              <a:rPr lang="en-US" sz="11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₹50L–2 Cr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3538728" y="42062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r>
              <a:rPr lang="en-US" sz="110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Binance + Zerodha + ICICI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3493008" y="475488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F7F8FC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3611880" y="4846320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Wakes up to a BTC crash — zero alerts while she slept.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163056" y="1691640"/>
            <a:ext cx="2606040" cy="429768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123176" y="19659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6" name="Image 2" descr="/home/claude/wealth_compass/icons/user_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8624" y="2121408"/>
            <a:ext cx="374904" cy="37490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163056" y="27889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Raj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6300216" y="31729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Investor · 58 · Retired Officer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6437376" y="3776472"/>
            <a:ext cx="2057400" cy="0"/>
          </a:xfrm>
          <a:prstGeom prst="line">
            <a:avLst/>
          </a:prstGeom>
          <a:noFill/>
          <a:ln w="12700">
            <a:solidFill>
              <a:srgbClr val="E3E6E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345936" y="39044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Portfolio: </a:t>
            </a:r>
            <a:r>
              <a:rPr lang="en-US" sz="11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₹3–6 Cr</a:t>
            </a:r>
            <a:endParaRPr lang="en-US" sz="1150" dirty="0"/>
          </a:p>
        </p:txBody>
      </p:sp>
      <p:sp>
        <p:nvSpPr>
          <p:cNvPr id="31" name="Text 26"/>
          <p:cNvSpPr txBox="1"/>
          <p:nvPr/>
        </p:nvSpPr>
        <p:spPr>
          <a:xfrm>
            <a:off x="6345936" y="42062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r>
              <a:rPr lang="en-US" sz="110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Office + SBI FD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300216" y="475488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F7F8FC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6419088" y="4846320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an FD maturity date and loses the renewal bonus.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8970264" y="1691640"/>
            <a:ext cx="2606040" cy="429768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9930384" y="19659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6" name="Image 3" descr="/home/claude/wealth_compass/icons/user_gr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2121408"/>
            <a:ext cx="374904" cy="374904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970264" y="27889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Priya</a:t>
            </a:r>
            <a:endParaRPr lang="en-US" sz="1800" dirty="0"/>
          </a:p>
        </p:txBody>
      </p:sp>
      <p:sp>
        <p:nvSpPr>
          <p:cNvPr id="38" name="Text 32"/>
          <p:cNvSpPr txBox="1"/>
          <p:nvPr/>
        </p:nvSpPr>
        <p:spPr>
          <a:xfrm>
            <a:off x="9107424" y="31729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 Investor · 34 · Marketing Manager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9244584" y="3776472"/>
            <a:ext cx="2057400" cy="0"/>
          </a:xfrm>
          <a:prstGeom prst="line">
            <a:avLst/>
          </a:prstGeom>
          <a:noFill/>
          <a:ln w="12700">
            <a:solidFill>
              <a:srgbClr val="E3E6EF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9153144" y="39044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Portfolio: </a:t>
            </a:r>
            <a:r>
              <a:rPr lang="en-US" sz="11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₹20–50L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9153144" y="42062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r>
              <a:rPr lang="en-US" sz="110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Groww + Kuvera + Zerodha</a:t>
            </a:r>
            <a:endParaRPr lang="en-US" sz="1100" dirty="0"/>
          </a:p>
        </p:txBody>
      </p:sp>
      <p:sp>
        <p:nvSpPr>
          <p:cNvPr id="42" name="Shape 36"/>
          <p:cNvSpPr/>
          <p:nvPr/>
        </p:nvSpPr>
        <p:spPr>
          <a:xfrm>
            <a:off x="9107424" y="475488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F7F8FC"/>
          </a:solidFill>
          <a:ln/>
        </p:spPr>
      </p:sp>
      <p:sp>
        <p:nvSpPr>
          <p:cNvPr id="43" name="Text 37"/>
          <p:cNvSpPr txBox="1"/>
          <p:nvPr/>
        </p:nvSpPr>
        <p:spPr>
          <a:xfrm>
            <a:off x="9226296" y="4846320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apps show 3 different XIRR numbers — which one is right?</a:t>
            </a:r>
            <a:endParaRPr lang="en-US" sz="1050" dirty="0"/>
          </a:p>
        </p:txBody>
      </p:sp>
      <p:sp>
        <p:nvSpPr>
          <p:cNvPr id="44" name="Text 38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Compass · NSIQ Infotech</a:t>
            </a:r>
            <a:endParaRPr lang="en-US" sz="1000" dirty="0"/>
          </a:p>
        </p:txBody>
      </p:sp>
      <p:sp>
        <p:nvSpPr>
          <p:cNvPr id="45" name="Text 3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ealth_compass/icons/compass.png"/>
          <p:cNvPicPr>
            <a:picLocks noChangeAspect="1"/>
          </p:cNvPicPr>
          <p:nvPr/>
        </p:nvPicPr>
        <p:blipFill>
          <a:blip r:embed="rId3">
            <a:alphaModFix amt="18000"/>
          </a:blip>
          <a:stretch>
            <a:fillRect/>
          </a:stretch>
        </p:blipFill>
        <p:spPr>
          <a:xfrm>
            <a:off x="9235440" y="4206240"/>
            <a:ext cx="2377440" cy="23774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874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single intelligent financial cockpit.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88036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connects all your accounts, calculates your exact net worth to the paisa, tells you how much risk you're taking — and warns you before things go wrong.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1554480" y="4572000"/>
            <a:ext cx="640080" cy="640080"/>
          </a:xfrm>
          <a:prstGeom prst="ellipse">
            <a:avLst/>
          </a:prstGeom>
          <a:solidFill>
            <a:srgbClr val="D4A017"/>
          </a:solidFill>
          <a:ln/>
        </p:spPr>
      </p:sp>
      <p:pic>
        <p:nvPicPr>
          <p:cNvPr id="7" name="Image 1" descr="/home/claude/wealth_compass/icons/plu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0784" y="4718304"/>
            <a:ext cx="347472" cy="3474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1300" dirty="0"/>
          </a:p>
        </p:txBody>
      </p:sp>
      <p:pic>
        <p:nvPicPr>
          <p:cNvPr id="9" name="Image 2" descr="/home/claude/wealth_compass/icons/arrow_right.png"/>
          <p:cNvPicPr>
            <a:picLocks noChangeAspect="1"/>
          </p:cNvPicPr>
          <p:nvPr/>
        </p:nvPicPr>
        <p:blipFill>
          <a:blip r:embed="rId5">
            <a:alphaModFix amt="60000"/>
          </a:blip>
          <a:stretch>
            <a:fillRect/>
          </a:stretch>
        </p:blipFill>
        <p:spPr>
          <a:xfrm>
            <a:off x="2953512" y="4736592"/>
            <a:ext cx="274320" cy="27432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3977640" y="4572000"/>
            <a:ext cx="640080" cy="640080"/>
          </a:xfrm>
          <a:prstGeom prst="ellipse">
            <a:avLst/>
          </a:prstGeom>
          <a:solidFill>
            <a:srgbClr val="D4A017"/>
          </a:solidFill>
          <a:ln/>
        </p:spPr>
      </p:sp>
      <p:pic>
        <p:nvPicPr>
          <p:cNvPr id="11" name="Image 3" descr="/home/claude/wealth_compass/icons/calculat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3944" y="4718304"/>
            <a:ext cx="347472" cy="347472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24612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</a:t>
            </a:r>
            <a:endParaRPr lang="en-US" sz="1300" dirty="0"/>
          </a:p>
        </p:txBody>
      </p:sp>
      <p:pic>
        <p:nvPicPr>
          <p:cNvPr id="13" name="Image 4" descr="/home/claude/wealth_compass/icons/arrow_right.png"/>
          <p:cNvPicPr>
            <a:picLocks noChangeAspect="1"/>
          </p:cNvPicPr>
          <p:nvPr/>
        </p:nvPicPr>
        <p:blipFill>
          <a:blip r:embed="rId5">
            <a:alphaModFix amt="60000"/>
          </a:blip>
          <a:stretch>
            <a:fillRect/>
          </a:stretch>
        </p:blipFill>
        <p:spPr>
          <a:xfrm>
            <a:off x="5376672" y="4736592"/>
            <a:ext cx="274320" cy="274320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6400800" y="4572000"/>
            <a:ext cx="640080" cy="640080"/>
          </a:xfrm>
          <a:prstGeom prst="ellipse">
            <a:avLst/>
          </a:prstGeom>
          <a:solidFill>
            <a:srgbClr val="D4A017"/>
          </a:solidFill>
          <a:ln/>
        </p:spPr>
      </p:sp>
      <p:pic>
        <p:nvPicPr>
          <p:cNvPr id="15" name="Image 5" descr="/home/claude/wealth_compass/icons/shie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4718304"/>
            <a:ext cx="347472" cy="347472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66928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Risk</a:t>
            </a:r>
            <a:endParaRPr lang="en-US" sz="1300" dirty="0"/>
          </a:p>
        </p:txBody>
      </p:sp>
      <p:pic>
        <p:nvPicPr>
          <p:cNvPr id="17" name="Image 6" descr="/home/claude/wealth_compass/icons/arrow_right.png"/>
          <p:cNvPicPr>
            <a:picLocks noChangeAspect="1"/>
          </p:cNvPicPr>
          <p:nvPr/>
        </p:nvPicPr>
        <p:blipFill>
          <a:blip r:embed="rId5">
            <a:alphaModFix amt="60000"/>
          </a:blip>
          <a:stretch>
            <a:fillRect/>
          </a:stretch>
        </p:blipFill>
        <p:spPr>
          <a:xfrm>
            <a:off x="7799832" y="4736592"/>
            <a:ext cx="274320" cy="274320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8823960" y="4572000"/>
            <a:ext cx="640080" cy="640080"/>
          </a:xfrm>
          <a:prstGeom prst="ellipse">
            <a:avLst/>
          </a:prstGeom>
          <a:solidFill>
            <a:srgbClr val="D4A017"/>
          </a:solidFill>
          <a:ln/>
        </p:spPr>
      </p:sp>
      <p:pic>
        <p:nvPicPr>
          <p:cNvPr id="19" name="Image 7" descr="/home/claude/wealth_compass/icons/bel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0264" y="4718304"/>
            <a:ext cx="347472" cy="347472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809244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changes once Wealth Compass is 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57800" cy="502920"/>
          </a:xfrm>
          <a:prstGeom prst="roundRect">
            <a:avLst>
              <a:gd name="adj" fmla="val 14545"/>
            </a:avLst>
          </a:prstGeom>
          <a:solidFill>
            <a:srgbClr val="F4E3E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89320" y="1600200"/>
            <a:ext cx="5623560" cy="502920"/>
          </a:xfrm>
          <a:prstGeom prst="roundRect">
            <a:avLst>
              <a:gd name="adj" fmla="val 14545"/>
            </a:avLst>
          </a:prstGeom>
          <a:solidFill>
            <a:srgbClr val="DCF0E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89320" y="1600200"/>
            <a:ext cx="5623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8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5257800" cy="960120"/>
          </a:xfrm>
          <a:prstGeom prst="roundRect">
            <a:avLst>
              <a:gd name="adj" fmla="val 7619"/>
            </a:avLst>
          </a:prstGeom>
          <a:solidFill>
            <a:srgbClr val="F7F8FC"/>
          </a:solidFill>
          <a:ln/>
        </p:spPr>
      </p:sp>
      <p:pic>
        <p:nvPicPr>
          <p:cNvPr id="9" name="Image 0" descr="/home/claude/wealth_compass/icons/t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28316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43000" y="219456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apps + 3 Excel files, 2 hours every Sunday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989320" y="2194560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0F7F2"/>
          </a:solidFill>
          <a:ln/>
        </p:spPr>
      </p:sp>
      <p:pic>
        <p:nvPicPr>
          <p:cNvPr id="12" name="Image 1" descr="/home/claude/wealth_compass/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28316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83680" y="21945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dashboard — Net Worth: ₹42,31,508.50, updated 2 min ago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337560"/>
            <a:ext cx="5257800" cy="960120"/>
          </a:xfrm>
          <a:prstGeom prst="roundRect">
            <a:avLst>
              <a:gd name="adj" fmla="val 7619"/>
            </a:avLst>
          </a:prstGeom>
          <a:solidFill>
            <a:srgbClr val="F7F8FC"/>
          </a:solidFill>
          <a:ln/>
        </p:spPr>
      </p:sp>
      <p:pic>
        <p:nvPicPr>
          <p:cNvPr id="15" name="Image 2" descr="/home/claude/wealth_compass/icons/t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71316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43000" y="333756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idea about risk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989320" y="3337560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0F7F2"/>
          </a:solidFill>
          <a:ln/>
        </p:spPr>
      </p:sp>
      <p:pic>
        <p:nvPicPr>
          <p:cNvPr id="18" name="Image 3" descr="/home/claude/wealth_compass/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67131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583680" y="33375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Score: 62/100 · VaR: could lose ₹84,000 tomorrow (95% confidence)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548640" y="4480560"/>
            <a:ext cx="5257800" cy="960120"/>
          </a:xfrm>
          <a:prstGeom prst="roundRect">
            <a:avLst>
              <a:gd name="adj" fmla="val 7619"/>
            </a:avLst>
          </a:prstGeom>
          <a:solidFill>
            <a:srgbClr val="F7F8FC"/>
          </a:solidFill>
          <a:ln/>
        </p:spPr>
      </p:sp>
      <p:pic>
        <p:nvPicPr>
          <p:cNvPr id="21" name="Image 4" descr="/home/claude/wealth_compass/icons/t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814316"/>
            <a:ext cx="292608" cy="29260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143000" y="448056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FD maturity dates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5989320" y="4480560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0F7F2"/>
          </a:solidFill>
          <a:ln/>
        </p:spPr>
      </p:sp>
      <p:pic>
        <p:nvPicPr>
          <p:cNvPr id="24" name="Image 5" descr="/home/claude/wealth_compass/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814316"/>
            <a:ext cx="292608" cy="29260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583680" y="44805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Alert: “Your SBI FD of ₹5L matures in 7 days. Click to renew.”</a:t>
            </a:r>
            <a:endParaRPr lang="en-US" sz="1250" dirty="0"/>
          </a:p>
        </p:txBody>
      </p:sp>
      <p:sp>
        <p:nvSpPr>
          <p:cNvPr id="26" name="Shape 18"/>
          <p:cNvSpPr/>
          <p:nvPr/>
        </p:nvSpPr>
        <p:spPr>
          <a:xfrm>
            <a:off x="548640" y="5623560"/>
            <a:ext cx="5257800" cy="960120"/>
          </a:xfrm>
          <a:prstGeom prst="roundRect">
            <a:avLst>
              <a:gd name="adj" fmla="val 7619"/>
            </a:avLst>
          </a:prstGeom>
          <a:solidFill>
            <a:srgbClr val="F7F8FC"/>
          </a:solidFill>
          <a:ln/>
        </p:spPr>
      </p:sp>
      <p:pic>
        <p:nvPicPr>
          <p:cNvPr id="27" name="Image 6" descr="/home/claude/wealth_compass/icons/t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957316"/>
            <a:ext cx="292608" cy="292608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143000" y="562356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Floating-point rounding errors</a:t>
            </a:r>
            <a:endParaRPr lang="en-US" sz="1250" dirty="0"/>
          </a:p>
        </p:txBody>
      </p:sp>
      <p:sp>
        <p:nvSpPr>
          <p:cNvPr id="29" name="Shape 20"/>
          <p:cNvSpPr/>
          <p:nvPr/>
        </p:nvSpPr>
        <p:spPr>
          <a:xfrm>
            <a:off x="5989320" y="5623560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0F7F2"/>
          </a:solidFill>
          <a:ln/>
        </p:spPr>
      </p:sp>
      <p:pic>
        <p:nvPicPr>
          <p:cNvPr id="30" name="Image 7" descr="/home/claude/wealth_compass/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957316"/>
            <a:ext cx="292608" cy="292608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583680" y="56235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28-digit precision math — every paisa is exact</a:t>
            </a:r>
            <a:endParaRPr lang="en-US" sz="1250" dirty="0"/>
          </a:p>
        </p:txBody>
      </p:sp>
      <p:sp>
        <p:nvSpPr>
          <p:cNvPr id="32" name="Text 22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Compass · NSIQ Infotech</a:t>
            </a:r>
            <a:endParaRPr lang="en-US" sz="1000" dirty="0"/>
          </a:p>
        </p:txBody>
      </p:sp>
      <p:sp>
        <p:nvSpPr>
          <p:cNvPr id="33" name="Text 23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PROMISES YOU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core value promises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356616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1620" y="19659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wealth_compass/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924" y="2112264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8346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Wealth View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3520440"/>
            <a:ext cx="22768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screen for stocks, MFs, crypto, FDs, gold, and real estate — all in one total.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83280" y="1691640"/>
            <a:ext cx="2606040" cy="356616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66260" y="19659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/home/claude/wealth_compass/icons/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2564" y="211226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20440" y="28346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Risk Numbers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3547872" y="3520440"/>
            <a:ext cx="22768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Continuously computes VaR, Sharpe, Beta, Max Drawdown — hedge-fund math for everyone.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17920" y="1691640"/>
            <a:ext cx="2606040" cy="356616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00900" y="19659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/home/claude/wealth_compass/icons/be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7204" y="2112264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55080" y="28346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Alerts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6382512" y="3520440"/>
            <a:ext cx="22768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Warns you BEFORE your portfolio drops 10%, not after. A smoke alarm for your money.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052560" y="1691640"/>
            <a:ext cx="2606040" cy="356616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035540" y="19659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/home/claude/wealth_compass/icons/calculat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1844" y="2112264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89720" y="28346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Exact-to-Paisa Math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9217152" y="3520440"/>
            <a:ext cx="22768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Fixed-point Decimal math means never even 1 paisa of rounding error.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Compass · NSIQ Infotech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EXPERIENCE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holding knows its home. Every question gets an answer.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UX features carried across Web and Mobile — next to every holding and every chart.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94960" cy="4617720"/>
          </a:xfrm>
          <a:prstGeom prst="roundRect">
            <a:avLst>
              <a:gd name="adj" fmla="val 1980"/>
            </a:avLst>
          </a:prstGeom>
          <a:solidFill>
            <a:srgbClr val="F7F8FC"/>
          </a:solidFill>
          <a:ln/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1-Click Platform Deep-Linking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265176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552" y="27889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87552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7249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017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shares · Zerodha Kite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977640" y="2816352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1E8E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977640" y="281635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 Zerodha</a:t>
            </a:r>
            <a:endParaRPr lang="en-US" sz="1000" dirty="0"/>
          </a:p>
        </p:txBody>
      </p:sp>
      <p:pic>
        <p:nvPicPr>
          <p:cNvPr id="14" name="Image 0" descr="/home/claude/wealth_compass/icons/external_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2935224"/>
            <a:ext cx="146304" cy="14630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22960" y="352044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87552" y="3657600"/>
            <a:ext cx="457200" cy="457200"/>
          </a:xfrm>
          <a:prstGeom prst="ellipse">
            <a:avLst/>
          </a:prstGeom>
          <a:solidFill>
            <a:srgbClr val="1E8E6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87552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554480" y="3593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HDFC Bank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3886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shares · Groww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977640" y="3685032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1E8E6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977640" y="368503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 Groww</a:t>
            </a:r>
            <a:endParaRPr lang="en-US" sz="1000" dirty="0"/>
          </a:p>
        </p:txBody>
      </p:sp>
      <p:pic>
        <p:nvPicPr>
          <p:cNvPr id="22" name="Image 1" descr="/home/claude/wealth_compass/icons/external_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3803904"/>
            <a:ext cx="146304" cy="146304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822960" y="438912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987552" y="4526280"/>
            <a:ext cx="457200" cy="45720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87552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554480" y="44622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</a:t>
            </a:r>
            <a:endParaRPr lang="en-US" sz="1350" dirty="0"/>
          </a:p>
        </p:txBody>
      </p:sp>
      <p:sp>
        <p:nvSpPr>
          <p:cNvPr id="27" name="Text 23"/>
          <p:cNvSpPr txBox="1"/>
          <p:nvPr/>
        </p:nvSpPr>
        <p:spPr>
          <a:xfrm>
            <a:off x="1554480" y="4754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shares · Upstox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3977640" y="4553712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1E8E6B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3977640" y="455371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 Upstox</a:t>
            </a:r>
            <a:endParaRPr lang="en-US" sz="1000" dirty="0"/>
          </a:p>
        </p:txBody>
      </p:sp>
      <p:pic>
        <p:nvPicPr>
          <p:cNvPr id="30" name="Image 2" descr="/home/claude/wealth_compass/icons/external_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4672584"/>
            <a:ext cx="14630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822960" y="5330952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holding carries the badge of the platform it lives on. One tap opens that exact stock in the broker's native app (URI scheme + biometric unlock on mobile) or web trading terminal — solving ‘which app has this?’ for good.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6217920" y="1874520"/>
            <a:ext cx="5422392" cy="4617720"/>
          </a:xfrm>
          <a:prstGeom prst="roundRect">
            <a:avLst>
              <a:gd name="adj" fmla="val 1980"/>
            </a:avLst>
          </a:prstGeom>
          <a:solidFill>
            <a:srgbClr val="141B4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6492240" y="210312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pic>
        <p:nvPicPr>
          <p:cNvPr id="34" name="Image 3" descr="/home/claude/wealth_compass/icons/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2212848"/>
            <a:ext cx="283464" cy="283464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7132320" y="210312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Compass AI Copilot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7132320" y="2386584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question or get a suggestion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7589520" y="2880360"/>
            <a:ext cx="3776472" cy="640080"/>
          </a:xfrm>
          <a:prstGeom prst="roundRect">
            <a:avLst>
              <a:gd name="adj" fmla="val 14286"/>
            </a:avLst>
          </a:prstGeom>
          <a:solidFill>
            <a:srgbClr val="D4A01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726680" y="2926080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I overexposed to tech stocks across Zerodha and Groww?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6492240" y="3703320"/>
            <a:ext cx="4873752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6675120" y="3794760"/>
            <a:ext cx="4507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is 34% of your equity book — 12 pts above target. Trimming ₹25,000 from Infosys would bring you back in line.</a:t>
            </a:r>
            <a:endParaRPr lang="en-US" sz="1150" dirty="0"/>
          </a:p>
        </p:txBody>
      </p:sp>
      <p:sp>
        <p:nvSpPr>
          <p:cNvPr id="41" name="Shape 35"/>
          <p:cNvSpPr/>
          <p:nvPr/>
        </p:nvSpPr>
        <p:spPr>
          <a:xfrm>
            <a:off x="6492240" y="4754880"/>
            <a:ext cx="4873752" cy="457200"/>
          </a:xfrm>
          <a:prstGeom prst="roundRect">
            <a:avLst>
              <a:gd name="adj" fmla="val 50000"/>
            </a:avLst>
          </a:prstGeom>
          <a:solidFill>
            <a:srgbClr val="141B4D"/>
          </a:solidFill>
          <a:ln w="15875">
            <a:solidFill>
              <a:srgbClr val="D4A017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492240" y="475488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rebalancing suggestion →</a:t>
            </a:r>
            <a:endParaRPr lang="en-US" sz="1200" dirty="0"/>
          </a:p>
        </p:txBody>
      </p:sp>
      <p:sp>
        <p:nvSpPr>
          <p:cNvPr id="43" name="Text 37"/>
          <p:cNvSpPr txBox="1"/>
          <p:nvPr/>
        </p:nvSpPr>
        <p:spPr>
          <a:xfrm>
            <a:off x="6492240" y="539496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floating, AI-powered suggestion box lives on every dashboard screen. Grounded in live holdings, Sharpe/Beta/HHI and cash-flow data, it answers natural-language questions and proactively surfaces trade, rebalancing and tax-saving ideas — with SEBI advisory disclaimers on every response.</a:t>
            </a:r>
            <a:endParaRPr lang="en-US" sz="1050" dirty="0"/>
          </a:p>
        </p:txBody>
      </p:sp>
      <p:sp>
        <p:nvSpPr>
          <p:cNvPr id="44" name="Text 38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Compass · Fresher Onboarding</a:t>
            </a:r>
            <a:endParaRPr lang="en-US" sz="1000" dirty="0"/>
          </a:p>
        </p:txBody>
      </p:sp>
      <p:sp>
        <p:nvSpPr>
          <p:cNvPr id="45" name="Text 3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Technologies &amp; tools planned for the build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Turborepo monorepo pairing a NestJS modular monolith with a specialized Python quant microservice.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38728" cy="1078992"/>
          </a:xfrm>
          <a:prstGeom prst="rect">
            <a:avLst/>
          </a:prstGeom>
          <a:solidFill>
            <a:srgbClr val="F3F6FC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2130552"/>
            <a:ext cx="100584" cy="1005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87552" y="2057400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68096" y="2386584"/>
            <a:ext cx="31272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Turborepo + pnpm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538728" cy="1078992"/>
          </a:xfrm>
          <a:prstGeom prst="rect">
            <a:avLst/>
          </a:prstGeom>
          <a:solidFill>
            <a:srgbClr val="F3F6FC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62856" y="2130552"/>
            <a:ext cx="100584" cy="1005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4782312" y="2057400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Frontend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62856" y="2386584"/>
            <a:ext cx="31272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 (App Router), React 18, Tailwind CSS, Shadcn UI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8138160" y="1965960"/>
            <a:ext cx="3538728" cy="1078992"/>
          </a:xfrm>
          <a:prstGeom prst="rect">
            <a:avLst/>
          </a:prstGeom>
          <a:solidFill>
            <a:srgbClr val="F3F6FC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57616" y="2130552"/>
            <a:ext cx="100584" cy="1005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8577072" y="2057400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357616" y="2386584"/>
            <a:ext cx="31272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Expo, React Navigation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548640" y="3264408"/>
            <a:ext cx="3538728" cy="1078992"/>
          </a:xfrm>
          <a:prstGeom prst="rect">
            <a:avLst/>
          </a:prstGeom>
          <a:solidFill>
            <a:srgbClr val="F3F6FC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3429000"/>
            <a:ext cx="100584" cy="1005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" y="3355848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68096" y="3685032"/>
            <a:ext cx="31272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NestJS (Node.js) + TypeScript, OpenAPI/Swagger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4343400" y="3264408"/>
            <a:ext cx="3538728" cy="1078992"/>
          </a:xfrm>
          <a:prstGeom prst="rect">
            <a:avLst/>
          </a:prstGeom>
          <a:solidFill>
            <a:srgbClr val="F3F6FC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62856" y="3429000"/>
            <a:ext cx="100584" cy="1005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/>
          <p:nvPr/>
        </p:nvSpPr>
        <p:spPr>
          <a:xfrm>
            <a:off x="4782312" y="3355848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 Microservice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62856" y="3685032"/>
            <a:ext cx="31272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3.11, FastAPI, NumPy, pandas, SciPy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8138160" y="3264408"/>
            <a:ext cx="3538728" cy="1078992"/>
          </a:xfrm>
          <a:prstGeom prst="rect">
            <a:avLst/>
          </a:prstGeom>
          <a:solidFill>
            <a:srgbClr val="F3F6FC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57616" y="3429000"/>
            <a:ext cx="100584" cy="1005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7" name="Text 25"/>
          <p:cNvSpPr/>
          <p:nvPr/>
        </p:nvSpPr>
        <p:spPr>
          <a:xfrm>
            <a:off x="8577072" y="3355848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&amp; ORM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357616" y="3685032"/>
            <a:ext cx="31272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+ Prisma (Decimal precision)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548640" y="4562856"/>
            <a:ext cx="3538728" cy="1078992"/>
          </a:xfrm>
          <a:prstGeom prst="rect">
            <a:avLst/>
          </a:prstGeom>
          <a:solidFill>
            <a:srgbClr val="F3F6FC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8096" y="4727448"/>
            <a:ext cx="100584" cy="1005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654296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&amp; Queues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68096" y="4983480"/>
            <a:ext cx="31272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7 + BullMQ (async jobs, price cache)</a:t>
            </a:r>
            <a:endParaRPr lang="en-US" sz="1020" dirty="0"/>
          </a:p>
        </p:txBody>
      </p:sp>
      <p:sp>
        <p:nvSpPr>
          <p:cNvPr id="33" name="Shape 31"/>
          <p:cNvSpPr/>
          <p:nvPr/>
        </p:nvSpPr>
        <p:spPr>
          <a:xfrm>
            <a:off x="4343400" y="4562856"/>
            <a:ext cx="3538728" cy="1078992"/>
          </a:xfrm>
          <a:prstGeom prst="rect">
            <a:avLst/>
          </a:prstGeom>
          <a:solidFill>
            <a:srgbClr val="F3F6FC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62856" y="4727448"/>
            <a:ext cx="100584" cy="1005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5" name="Text 33"/>
          <p:cNvSpPr/>
          <p:nvPr/>
        </p:nvSpPr>
        <p:spPr>
          <a:xfrm>
            <a:off x="4782312" y="4654296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Visualization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62856" y="4983480"/>
            <a:ext cx="31272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 + Apache ECharts</a:t>
            </a:r>
            <a:endParaRPr lang="en-US" sz="1020" dirty="0"/>
          </a:p>
        </p:txBody>
      </p:sp>
      <p:sp>
        <p:nvSpPr>
          <p:cNvPr id="37" name="Shape 35"/>
          <p:cNvSpPr/>
          <p:nvPr/>
        </p:nvSpPr>
        <p:spPr>
          <a:xfrm>
            <a:off x="8138160" y="4562856"/>
            <a:ext cx="3538728" cy="1078992"/>
          </a:xfrm>
          <a:prstGeom prst="rect">
            <a:avLst/>
          </a:prstGeom>
          <a:solidFill>
            <a:srgbClr val="F3F6FC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57616" y="4727448"/>
            <a:ext cx="100584" cy="1005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9" name="Text 37"/>
          <p:cNvSpPr/>
          <p:nvPr/>
        </p:nvSpPr>
        <p:spPr>
          <a:xfrm>
            <a:off x="8577072" y="4654296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&amp; Cloud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357616" y="4983480"/>
            <a:ext cx="31272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Docker, GitHub Actions, AWS ECS/RDS (ap-south-1 Mumbai)</a:t>
            </a:r>
            <a:endParaRPr lang="en-US" sz="102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Compass · NSIQ Infotech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(SIMPLIFIED)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simple steps behind every dashboard number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29000" cy="4343400"/>
          </a:xfrm>
          <a:prstGeom prst="roundRect">
            <a:avLst>
              <a:gd name="adj" fmla="val 3200"/>
            </a:avLst>
          </a:prstGeom>
          <a:solidFill>
            <a:srgbClr val="F7F8FC"/>
          </a:solidFill>
          <a:ln/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108960" y="19202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/home/claude/wealth_compass/icons/pl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688" y="2029968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26060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1089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link Zerodha, Groww, Binance via secure read-only OAuth — or upload a CSV, or type it in manually (gold, real estate, FDs).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77240" y="4937760"/>
            <a:ext cx="2971800" cy="0"/>
          </a:xfrm>
          <a:prstGeom prst="line">
            <a:avLst/>
          </a:prstGeom>
          <a:noFill/>
          <a:ln w="12700">
            <a:solidFill>
              <a:srgbClr val="D9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5056632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Read-only. It can never place a trade or move your money.</a:t>
            </a:r>
            <a:endParaRPr lang="en-US" sz="1100" dirty="0"/>
          </a:p>
        </p:txBody>
      </p:sp>
      <p:pic>
        <p:nvPicPr>
          <p:cNvPr id="13" name="Image 1" descr="/home/claude/wealth_compass/icons/arrow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5072" y="3726180"/>
            <a:ext cx="201168" cy="274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233672" y="1691640"/>
            <a:ext cx="3429000" cy="4343400"/>
          </a:xfrm>
          <a:prstGeom prst="roundRect">
            <a:avLst>
              <a:gd name="adj" fmla="val 3200"/>
            </a:avLst>
          </a:prstGeom>
          <a:solidFill>
            <a:srgbClr val="F7F8FC"/>
          </a:solidFill>
          <a:ln/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62272" y="192024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462272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6793992" y="19202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/home/claude/wealth_compass/icons/co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2029968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462272" y="26060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Calculate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4462272" y="31089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fetches live prices, runs FIFO cost-basis math in Decimal.js, and asks a Python engine to compute VaR, Sharpe, and Beta.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462272" y="4937760"/>
            <a:ext cx="2971800" cy="0"/>
          </a:xfrm>
          <a:prstGeom prst="line">
            <a:avLst/>
          </a:prstGeom>
          <a:noFill/>
          <a:ln w="12700">
            <a:solidFill>
              <a:srgbClr val="D9DCE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462272" y="5056632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handles the app logic, Python handles the heavy math.</a:t>
            </a:r>
            <a:endParaRPr lang="en-US" sz="1100" dirty="0"/>
          </a:p>
        </p:txBody>
      </p:sp>
      <p:pic>
        <p:nvPicPr>
          <p:cNvPr id="23" name="Image 3" descr="/home/claude/wealth_compass/icons/arrow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0104" y="3726180"/>
            <a:ext cx="201168" cy="27432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7918704" y="1691640"/>
            <a:ext cx="3429000" cy="4343400"/>
          </a:xfrm>
          <a:prstGeom prst="roundRect">
            <a:avLst>
              <a:gd name="adj" fmla="val 3200"/>
            </a:avLst>
          </a:prstGeom>
          <a:solidFill>
            <a:srgbClr val="F7F8FC"/>
          </a:solidFill>
          <a:ln/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147304" y="1920240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8147304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7" name="Shape 21"/>
          <p:cNvSpPr/>
          <p:nvPr/>
        </p:nvSpPr>
        <p:spPr>
          <a:xfrm>
            <a:off x="10479024" y="19202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8" name="Image 4" descr="/home/claude/wealth_compass/icons/b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8752" y="2029968"/>
            <a:ext cx="283464" cy="28346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147304" y="26060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 &amp; Show</a:t>
            </a:r>
            <a:endParaRPr lang="en-US" sz="1900" dirty="0"/>
          </a:p>
        </p:txBody>
      </p:sp>
      <p:sp>
        <p:nvSpPr>
          <p:cNvPr id="30" name="Text 23"/>
          <p:cNvSpPr txBox="1"/>
          <p:nvPr/>
        </p:nvSpPr>
        <p:spPr>
          <a:xfrm>
            <a:off x="8147304" y="31089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land on your dashboard instantly, and an Alert Engine checks your rules — emailing or pushing a notification only when something truly matters.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147304" y="4937760"/>
            <a:ext cx="2971800" cy="0"/>
          </a:xfrm>
          <a:prstGeom prst="line">
            <a:avLst/>
          </a:prstGeom>
          <a:noFill/>
          <a:ln w="12700">
            <a:solidFill>
              <a:srgbClr val="D9DCE6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8147304" y="5056632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cooldowns mean you're never spammed.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Compass · NSIQ Infotech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Wealth Compass — System Architecture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813816"/>
            <a:ext cx="110944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CLIENT FRONTENDS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978408"/>
            <a:ext cx="5364328" cy="731520"/>
          </a:xfrm>
          <a:prstGeom prst="roundRect">
            <a:avLst>
              <a:gd name="adj" fmla="val 10000"/>
            </a:avLst>
          </a:prstGeom>
          <a:solidFill>
            <a:srgbClr val="EAEEF9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078992"/>
            <a:ext cx="536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Next.js 14 Web Portal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1389888"/>
            <a:ext cx="5364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Port 3001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978408"/>
            <a:ext cx="5364328" cy="731520"/>
          </a:xfrm>
          <a:prstGeom prst="roundRect">
            <a:avLst>
              <a:gd name="adj" fmla="val 10000"/>
            </a:avLst>
          </a:prstGeom>
          <a:solidFill>
            <a:srgbClr val="EAEEF9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78728" y="1078992"/>
            <a:ext cx="536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Mobile App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278728" y="1389888"/>
            <a:ext cx="5364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Expo SDK 52 / PWA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095848" y="1764792"/>
            <a:ext cx="0" cy="146304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48640" y="1956816"/>
            <a:ext cx="110944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2121408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 w="12700">
            <a:solidFill>
              <a:srgbClr val="161B4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223113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NestJS Modular Monolith Gateway 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AEB8E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(Port 3000)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822960" y="2542032"/>
            <a:ext cx="105457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RBAC (Argon2id, Dual JWT)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Ingestion Engine (Excel, RBI AA, CSV)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Lot Matching (FIFO &amp; Weighted Average)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Cryptoservice (AES-256-GCM Envelope Encryption)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BullMQ Job Producers &amp; Redis Lock Manager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275789" y="3547872"/>
            <a:ext cx="0" cy="146304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095848" y="3547872"/>
            <a:ext cx="0" cy="146304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915906" y="3547872"/>
            <a:ext cx="0" cy="146304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48640" y="3739896"/>
            <a:ext cx="110944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COMPUTE LAYER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3904488"/>
            <a:ext cx="3454298" cy="1371600"/>
          </a:xfrm>
          <a:prstGeom prst="roundRect">
            <a:avLst>
              <a:gd name="adj" fmla="val 4667"/>
            </a:avLst>
          </a:prstGeom>
          <a:solidFill>
            <a:srgbClr val="E7F4F3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3995928"/>
            <a:ext cx="31251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TimescaleDB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713232" y="4233672"/>
            <a:ext cx="31251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Port 5432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713232" y="4453128"/>
            <a:ext cx="312511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4495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14 Relational Models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4495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Decimal(18,8) Ledger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4495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Hypertable Price History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4495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FIFO Lot Tracking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368698" y="3904488"/>
            <a:ext cx="3454298" cy="1371600"/>
          </a:xfrm>
          <a:prstGeom prst="roundRect">
            <a:avLst>
              <a:gd name="adj" fmla="val 4667"/>
            </a:avLst>
          </a:prstGeom>
          <a:solidFill>
            <a:srgbClr val="E7F4F3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33290" y="3995928"/>
            <a:ext cx="31251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Redis 7 Cluster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4533290" y="4233672"/>
            <a:ext cx="31251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Port 6379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4533290" y="4453128"/>
            <a:ext cx="312511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4495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BullMQ Job Queues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4495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&amp; Lock Manager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4495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Session Token Denylist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4495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Multi-Tier Valuation Cache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188757" y="3904488"/>
            <a:ext cx="3454298" cy="1371600"/>
          </a:xfrm>
          <a:prstGeom prst="roundRect">
            <a:avLst>
              <a:gd name="adj" fmla="val 4667"/>
            </a:avLst>
          </a:prstGeom>
          <a:solidFill>
            <a:srgbClr val="E7F4F3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53349" y="3995928"/>
            <a:ext cx="31251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Quant Engine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8353349" y="4233672"/>
            <a:ext cx="31251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Port 8000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8353349" y="4453128"/>
            <a:ext cx="312511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4495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FastAPI Microservice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4495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NumPy / SciPy Solvers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4495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VaR, CVaR, Sharpe, Sortino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4495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CAPM Beta &amp; HHI Index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9915906" y="5330952"/>
            <a:ext cx="0" cy="146304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548640" y="5522976"/>
            <a:ext cx="110944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777277" y="5687568"/>
            <a:ext cx="4277258" cy="914400"/>
          </a:xfrm>
          <a:prstGeom prst="roundRect">
            <a:avLst>
              <a:gd name="adj" fmla="val 8000"/>
            </a:avLst>
          </a:prstGeom>
          <a:solidFill>
            <a:srgbClr val="E8871E"/>
          </a:solidFill>
          <a:ln w="12700">
            <a:solidFill>
              <a:srgbClr val="C46E1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960157" y="5769864"/>
            <a:ext cx="39114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 Copilot Service  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BE4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(Port 8001)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 txBox="1"/>
          <p:nvPr/>
        </p:nvSpPr>
        <p:spPr>
          <a:xfrm>
            <a:off x="7960157" y="6016752"/>
            <a:ext cx="39114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llama-3.3-70b-versatile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Fallback Engine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Tax-Loss Harvesting Advice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0FF379AA-F6E0-D966-7BDB-6FB8A4FC0D94}"/>
              </a:ext>
            </a:extLst>
          </p:cNvPr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Compass · NSIQ Infotech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broker connects via the Account Aggregator (AA)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438248" y="1481328"/>
            <a:ext cx="7315200" cy="475488"/>
          </a:xfrm>
          <a:prstGeom prst="roundRect">
            <a:avLst>
              <a:gd name="adj" fmla="val 17308"/>
            </a:avLst>
          </a:prstGeom>
          <a:solidFill>
            <a:srgbClr val="F7F8FC"/>
          </a:solidFill>
          <a:ln/>
          <a:effectLst>
            <a:outerShdw blurRad="50800" dist="25400" dir="5400000" algn="bl" rotWithShape="0">
              <a:srgbClr val="44546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20544" y="15544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wealth_compass/icons/mouse_poi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696" y="1627632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986888" y="150876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clicks “Connect Broker”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2986888" y="1732788"/>
            <a:ext cx="6537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Wealth Compass web or mobile app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095848" y="1956816"/>
            <a:ext cx="0" cy="25603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38248" y="2212848"/>
            <a:ext cx="7315200" cy="475488"/>
          </a:xfrm>
          <a:prstGeom prst="roundRect">
            <a:avLst>
              <a:gd name="adj" fmla="val 17308"/>
            </a:avLst>
          </a:prstGeom>
          <a:solidFill>
            <a:srgbClr val="CADCFC"/>
          </a:solidFill>
          <a:ln/>
          <a:effectLst>
            <a:outerShdw blurRad="50800" dist="25400" dir="5400000" algn="bl" rotWithShape="0">
              <a:srgbClr val="44546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20544" y="228600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/home/claude/wealth_compass/icons/ro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3696" y="2359152"/>
            <a:ext cx="182880" cy="1828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86888" y="22402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Groww / Angel One / Zerodha / Upstox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2986888" y="2464308"/>
            <a:ext cx="6537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picks which broker account to link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95848" y="2688336"/>
            <a:ext cx="0" cy="25603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2438248" y="2944368"/>
            <a:ext cx="7315200" cy="475488"/>
          </a:xfrm>
          <a:prstGeom prst="roundRect">
            <a:avLst>
              <a:gd name="adj" fmla="val 17308"/>
            </a:avLst>
          </a:prstGeom>
          <a:solidFill>
            <a:srgbClr val="F7F8FC"/>
          </a:solidFill>
          <a:ln/>
          <a:effectLst>
            <a:outerShdw blurRad="50800" dist="25400" dir="5400000" algn="bl" rotWithShape="0">
              <a:srgbClr val="44546A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520544" y="301752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/home/claude/wealth_compass/icons/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3696" y="3090672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986888" y="297180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 Consent Screen (Setu)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2986888" y="3195828"/>
            <a:ext cx="6537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Account Aggregator framework asks what data to share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095848" y="3419856"/>
            <a:ext cx="0" cy="25603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2438248" y="3675888"/>
            <a:ext cx="7315200" cy="475488"/>
          </a:xfrm>
          <a:prstGeom prst="roundRect">
            <a:avLst>
              <a:gd name="adj" fmla="val 17308"/>
            </a:avLst>
          </a:prstGeom>
          <a:solidFill>
            <a:srgbClr val="CADCFC"/>
          </a:solidFill>
          <a:ln/>
          <a:effectLst>
            <a:outerShdw blurRad="50800" dist="25400" dir="5400000" algn="bl" rotWithShape="0">
              <a:srgbClr val="44546A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2520544" y="374904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4" name="Image 3" descr="/home/claude/wealth_compass/icons/handsha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3696" y="3822192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986888" y="370332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approves consent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2986888" y="3927348"/>
            <a:ext cx="6537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Explicit, time-bound, revocable permission — nothing is assumed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6095848" y="4151376"/>
            <a:ext cx="0" cy="25603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2438248" y="4407408"/>
            <a:ext cx="7315200" cy="475488"/>
          </a:xfrm>
          <a:prstGeom prst="roundRect">
            <a:avLst>
              <a:gd name="adj" fmla="val 17308"/>
            </a:avLst>
          </a:prstGeom>
          <a:solidFill>
            <a:srgbClr val="F7F8FC"/>
          </a:solidFill>
          <a:ln/>
          <a:effectLst>
            <a:outerShdw blurRad="50800" dist="25400" dir="5400000" algn="bl" rotWithShape="0">
              <a:srgbClr val="44546A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2520544" y="448056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0" name="Image 4" descr="/home/claude/wealth_compass/icons/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93696" y="4553712"/>
            <a:ext cx="182880" cy="18288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2986888" y="443484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 fetches holdings from CDSL/NSDL-linked accounts</a:t>
            </a:r>
            <a:endParaRPr lang="en-US" sz="1350" dirty="0"/>
          </a:p>
        </p:txBody>
      </p:sp>
      <p:sp>
        <p:nvSpPr>
          <p:cNvPr id="32" name="Text 25"/>
          <p:cNvSpPr txBox="1"/>
          <p:nvPr/>
        </p:nvSpPr>
        <p:spPr>
          <a:xfrm>
            <a:off x="2986888" y="4658868"/>
            <a:ext cx="6537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pulls verified holdings straight from the depositories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6095848" y="4882896"/>
            <a:ext cx="0" cy="25603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2438248" y="5138928"/>
            <a:ext cx="7315200" cy="475488"/>
          </a:xfrm>
          <a:prstGeom prst="roundRect">
            <a:avLst>
              <a:gd name="adj" fmla="val 17308"/>
            </a:avLst>
          </a:prstGeom>
          <a:solidFill>
            <a:srgbClr val="CADCFC"/>
          </a:solidFill>
          <a:ln/>
          <a:effectLst>
            <a:outerShdw blurRad="50800" dist="25400" dir="5400000" algn="bl" rotWithShape="0">
              <a:srgbClr val="44546A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2520544" y="52120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6" name="Image 5" descr="/home/claude/wealth_compass/icons/com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93696" y="5285232"/>
            <a:ext cx="182880" cy="18288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2986888" y="516636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Wealth Compass dashboard</a:t>
            </a:r>
            <a:endParaRPr lang="en-US" sz="1350" dirty="0"/>
          </a:p>
        </p:txBody>
      </p:sp>
      <p:sp>
        <p:nvSpPr>
          <p:cNvPr id="38" name="Text 30"/>
          <p:cNvSpPr txBox="1"/>
          <p:nvPr/>
        </p:nvSpPr>
        <p:spPr>
          <a:xfrm>
            <a:off x="2986888" y="5390388"/>
            <a:ext cx="6537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data lands in the Providers Module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095848" y="5614416"/>
            <a:ext cx="0" cy="25603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2438248" y="5870448"/>
            <a:ext cx="7315200" cy="475488"/>
          </a:xfrm>
          <a:prstGeom prst="roundRect">
            <a:avLst>
              <a:gd name="adj" fmla="val 17308"/>
            </a:avLst>
          </a:prstGeom>
          <a:solidFill>
            <a:srgbClr val="F7F8FC"/>
          </a:solidFill>
          <a:ln/>
          <a:effectLst>
            <a:outerShdw blurRad="50800" dist="25400" dir="5400000" algn="bl" rotWithShape="0">
              <a:srgbClr val="44546A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2520544" y="594360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2" name="Image 6" descr="/home/claude/wealth_compass/icons/pie_ch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93696" y="6016752"/>
            <a:ext cx="182880" cy="18288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2986888" y="5897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Portfolio View</a:t>
            </a:r>
            <a:endParaRPr lang="en-US" sz="1350" dirty="0"/>
          </a:p>
        </p:txBody>
      </p:sp>
      <p:sp>
        <p:nvSpPr>
          <p:cNvPr id="44" name="Text 35"/>
          <p:cNvSpPr txBox="1"/>
          <p:nvPr/>
        </p:nvSpPr>
        <p:spPr>
          <a:xfrm>
            <a:off x="2986888" y="6121908"/>
            <a:ext cx="6537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worth, risk, and alerts — all in one screen</a:t>
            </a:r>
            <a:endParaRPr lang="en-US" sz="950" dirty="0"/>
          </a:p>
        </p:txBody>
      </p:sp>
      <p:sp>
        <p:nvSpPr>
          <p:cNvPr id="45" name="Text 36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Compass · NSIQ Infotech</a:t>
            </a:r>
            <a:endParaRPr lang="en-US" sz="1000" dirty="0"/>
          </a:p>
        </p:txBody>
      </p:sp>
      <p:sp>
        <p:nvSpPr>
          <p:cNvPr id="46" name="Text 3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 txBox="1"/>
          <p:nvPr/>
        </p:nvSpPr>
        <p:spPr>
          <a:xfrm>
            <a:off x="1203808" y="4663440"/>
            <a:ext cx="9784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Wealth Compass turns “5 apps and 2 confused hours” into “1 screen and 3 honest seconds” — with your risk shown, not hidden.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0" y="4114800"/>
            <a:ext cx="5760720" cy="0"/>
          </a:xfrm>
          <a:prstGeom prst="line">
            <a:avLst/>
          </a:prstGeom>
          <a:noFill/>
          <a:ln w="12700">
            <a:solidFill>
              <a:srgbClr val="3B438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Compass · NSIQ Infotech</a:t>
            </a:r>
            <a:endParaRPr lang="en-US" sz="1000" dirty="0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1D022FA8-340A-A2F8-E726-68FB39A34AA4}"/>
              </a:ext>
            </a:extLst>
          </p:cNvPr>
          <p:cNvSpPr txBox="1"/>
          <p:nvPr/>
        </p:nvSpPr>
        <p:spPr>
          <a:xfrm>
            <a:off x="1203808" y="2162369"/>
            <a:ext cx="9784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Thank you </a:t>
            </a:r>
            <a:endParaRPr lang="en-US" sz="40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3318F1B-3783-10B7-0AB1-8B26B83F1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9369" y="822960"/>
            <a:ext cx="1262781" cy="123985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1566</Words>
  <Application>Microsoft Office PowerPoint</Application>
  <PresentationFormat>Widescreen</PresentationFormat>
  <Paragraphs>234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suraj Golai</cp:lastModifiedBy>
  <cp:revision>4</cp:revision>
  <dcterms:created xsi:type="dcterms:W3CDTF">2026-09-15T21:09:23Z</dcterms:created>
  <dcterms:modified xsi:type="dcterms:W3CDTF">2026-09-16T05:52:21Z</dcterms:modified>
</cp:coreProperties>
</file>